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A136"/>
    <a:srgbClr val="FFFFAF"/>
    <a:srgbClr val="F19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50" d="100"/>
          <a:sy n="150" d="100"/>
        </p:scale>
        <p:origin x="62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A7AD7-2A3B-B93E-D37E-3B126C95F8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785C11-644F-BE4A-1B9F-B479F5143F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FB42C74-86B0-E7F0-D2E3-C3F0439B8759}"/>
              </a:ext>
            </a:extLst>
          </p:cNvPr>
          <p:cNvSpPr>
            <a:spLocks noGrp="1"/>
          </p:cNvSpPr>
          <p:nvPr>
            <p:ph type="dt" sz="half" idx="10"/>
          </p:nvPr>
        </p:nvSpPr>
        <p:spPr/>
        <p:txBody>
          <a:bodyPr/>
          <a:lstStyle/>
          <a:p>
            <a:fld id="{C6916D30-B163-44C8-95FC-838D61A53494}" type="datetimeFigureOut">
              <a:rPr lang="en-US" smtClean="0"/>
              <a:t>2/4/2026</a:t>
            </a:fld>
            <a:endParaRPr lang="en-US"/>
          </a:p>
        </p:txBody>
      </p:sp>
      <p:sp>
        <p:nvSpPr>
          <p:cNvPr id="5" name="Footer Placeholder 4">
            <a:extLst>
              <a:ext uri="{FF2B5EF4-FFF2-40B4-BE49-F238E27FC236}">
                <a16:creationId xmlns:a16="http://schemas.microsoft.com/office/drawing/2014/main" id="{F7586201-BF9F-D992-4910-7796AFB08B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36BC3D-F009-5CE3-474E-7137872CC442}"/>
              </a:ext>
            </a:extLst>
          </p:cNvPr>
          <p:cNvSpPr>
            <a:spLocks noGrp="1"/>
          </p:cNvSpPr>
          <p:nvPr>
            <p:ph type="sldNum" sz="quarter" idx="12"/>
          </p:nvPr>
        </p:nvSpPr>
        <p:spPr/>
        <p:txBody>
          <a:bodyPr/>
          <a:lstStyle/>
          <a:p>
            <a:fld id="{6A0A83FE-E656-4CCE-BD92-FBA44D8E43F3}" type="slidenum">
              <a:rPr lang="en-US" smtClean="0"/>
              <a:t>‹#›</a:t>
            </a:fld>
            <a:endParaRPr lang="en-US"/>
          </a:p>
        </p:txBody>
      </p:sp>
    </p:spTree>
    <p:extLst>
      <p:ext uri="{BB962C8B-B14F-4D97-AF65-F5344CB8AC3E}">
        <p14:creationId xmlns:p14="http://schemas.microsoft.com/office/powerpoint/2010/main" val="2329340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D9537-F1F5-96E7-E1D8-791174008F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924DFD-D051-50CC-86EA-EF8F80EAF7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F04947-247E-1DE7-5B9F-3720EAB6BEA5}"/>
              </a:ext>
            </a:extLst>
          </p:cNvPr>
          <p:cNvSpPr>
            <a:spLocks noGrp="1"/>
          </p:cNvSpPr>
          <p:nvPr>
            <p:ph type="dt" sz="half" idx="10"/>
          </p:nvPr>
        </p:nvSpPr>
        <p:spPr/>
        <p:txBody>
          <a:bodyPr/>
          <a:lstStyle/>
          <a:p>
            <a:fld id="{C6916D30-B163-44C8-95FC-838D61A53494}" type="datetimeFigureOut">
              <a:rPr lang="en-US" smtClean="0"/>
              <a:t>2/4/2026</a:t>
            </a:fld>
            <a:endParaRPr lang="en-US"/>
          </a:p>
        </p:txBody>
      </p:sp>
      <p:sp>
        <p:nvSpPr>
          <p:cNvPr id="5" name="Footer Placeholder 4">
            <a:extLst>
              <a:ext uri="{FF2B5EF4-FFF2-40B4-BE49-F238E27FC236}">
                <a16:creationId xmlns:a16="http://schemas.microsoft.com/office/drawing/2014/main" id="{6B4C09DA-7682-8CC4-D0BB-7D1A4CD545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018E4B-1DA0-45B6-A5F9-5A352128B391}"/>
              </a:ext>
            </a:extLst>
          </p:cNvPr>
          <p:cNvSpPr>
            <a:spLocks noGrp="1"/>
          </p:cNvSpPr>
          <p:nvPr>
            <p:ph type="sldNum" sz="quarter" idx="12"/>
          </p:nvPr>
        </p:nvSpPr>
        <p:spPr/>
        <p:txBody>
          <a:bodyPr/>
          <a:lstStyle/>
          <a:p>
            <a:fld id="{6A0A83FE-E656-4CCE-BD92-FBA44D8E43F3}" type="slidenum">
              <a:rPr lang="en-US" smtClean="0"/>
              <a:t>‹#›</a:t>
            </a:fld>
            <a:endParaRPr lang="en-US"/>
          </a:p>
        </p:txBody>
      </p:sp>
    </p:spTree>
    <p:extLst>
      <p:ext uri="{BB962C8B-B14F-4D97-AF65-F5344CB8AC3E}">
        <p14:creationId xmlns:p14="http://schemas.microsoft.com/office/powerpoint/2010/main" val="3557074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42C01-CE21-8D62-67C9-CF8B11FB59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181D18-1A1E-5429-93AF-1FEA633FEA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3AEB10-C056-00F2-D589-484B924D296C}"/>
              </a:ext>
            </a:extLst>
          </p:cNvPr>
          <p:cNvSpPr>
            <a:spLocks noGrp="1"/>
          </p:cNvSpPr>
          <p:nvPr>
            <p:ph type="dt" sz="half" idx="10"/>
          </p:nvPr>
        </p:nvSpPr>
        <p:spPr/>
        <p:txBody>
          <a:bodyPr/>
          <a:lstStyle/>
          <a:p>
            <a:fld id="{C6916D30-B163-44C8-95FC-838D61A53494}" type="datetimeFigureOut">
              <a:rPr lang="en-US" smtClean="0"/>
              <a:t>2/4/2026</a:t>
            </a:fld>
            <a:endParaRPr lang="en-US"/>
          </a:p>
        </p:txBody>
      </p:sp>
      <p:sp>
        <p:nvSpPr>
          <p:cNvPr id="5" name="Footer Placeholder 4">
            <a:extLst>
              <a:ext uri="{FF2B5EF4-FFF2-40B4-BE49-F238E27FC236}">
                <a16:creationId xmlns:a16="http://schemas.microsoft.com/office/drawing/2014/main" id="{D74D06DB-C859-E355-25AB-F0670F413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953A97-89A7-CF30-63B0-3E67F171EFF7}"/>
              </a:ext>
            </a:extLst>
          </p:cNvPr>
          <p:cNvSpPr>
            <a:spLocks noGrp="1"/>
          </p:cNvSpPr>
          <p:nvPr>
            <p:ph type="sldNum" sz="quarter" idx="12"/>
          </p:nvPr>
        </p:nvSpPr>
        <p:spPr/>
        <p:txBody>
          <a:bodyPr/>
          <a:lstStyle/>
          <a:p>
            <a:fld id="{6A0A83FE-E656-4CCE-BD92-FBA44D8E43F3}" type="slidenum">
              <a:rPr lang="en-US" smtClean="0"/>
              <a:t>‹#›</a:t>
            </a:fld>
            <a:endParaRPr lang="en-US"/>
          </a:p>
        </p:txBody>
      </p:sp>
    </p:spTree>
    <p:extLst>
      <p:ext uri="{BB962C8B-B14F-4D97-AF65-F5344CB8AC3E}">
        <p14:creationId xmlns:p14="http://schemas.microsoft.com/office/powerpoint/2010/main" val="3896427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2BD4D-4ACC-A240-FE17-CC1A6A4488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F36D26-86F4-8344-0391-23E2BC4F03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1AE317-7245-E233-69B9-26AB426CE8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7BC56E-0E6F-AE0A-9D8B-FFA5E664DCD7}"/>
              </a:ext>
            </a:extLst>
          </p:cNvPr>
          <p:cNvSpPr>
            <a:spLocks noGrp="1"/>
          </p:cNvSpPr>
          <p:nvPr>
            <p:ph type="dt" sz="half" idx="10"/>
          </p:nvPr>
        </p:nvSpPr>
        <p:spPr/>
        <p:txBody>
          <a:bodyPr/>
          <a:lstStyle/>
          <a:p>
            <a:fld id="{C6916D30-B163-44C8-95FC-838D61A53494}" type="datetimeFigureOut">
              <a:rPr lang="en-US" smtClean="0"/>
              <a:t>2/4/2026</a:t>
            </a:fld>
            <a:endParaRPr lang="en-US"/>
          </a:p>
        </p:txBody>
      </p:sp>
      <p:sp>
        <p:nvSpPr>
          <p:cNvPr id="6" name="Footer Placeholder 5">
            <a:extLst>
              <a:ext uri="{FF2B5EF4-FFF2-40B4-BE49-F238E27FC236}">
                <a16:creationId xmlns:a16="http://schemas.microsoft.com/office/drawing/2014/main" id="{57E25B00-79D5-001B-B9C0-89AE7D37A9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FAEE03-FD36-22BC-570D-947940EEB2A0}"/>
              </a:ext>
            </a:extLst>
          </p:cNvPr>
          <p:cNvSpPr>
            <a:spLocks noGrp="1"/>
          </p:cNvSpPr>
          <p:nvPr>
            <p:ph type="sldNum" sz="quarter" idx="12"/>
          </p:nvPr>
        </p:nvSpPr>
        <p:spPr/>
        <p:txBody>
          <a:bodyPr/>
          <a:lstStyle/>
          <a:p>
            <a:fld id="{6A0A83FE-E656-4CCE-BD92-FBA44D8E43F3}" type="slidenum">
              <a:rPr lang="en-US" smtClean="0"/>
              <a:t>‹#›</a:t>
            </a:fld>
            <a:endParaRPr lang="en-US"/>
          </a:p>
        </p:txBody>
      </p:sp>
    </p:spTree>
    <p:extLst>
      <p:ext uri="{BB962C8B-B14F-4D97-AF65-F5344CB8AC3E}">
        <p14:creationId xmlns:p14="http://schemas.microsoft.com/office/powerpoint/2010/main" val="621508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C3D11-64C7-6071-7315-358FD5CE1F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6CB25AB-6B0B-DAF5-2E60-D15B055D07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6BE7A6-866D-0E8C-2D5B-F55CC610CD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A12E00-EFC7-C5E0-44F7-4D4834464B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702D45-521D-0155-E851-E8120A7820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6696D6-7F62-F083-6602-D57A6F25D23D}"/>
              </a:ext>
            </a:extLst>
          </p:cNvPr>
          <p:cNvSpPr>
            <a:spLocks noGrp="1"/>
          </p:cNvSpPr>
          <p:nvPr>
            <p:ph type="dt" sz="half" idx="10"/>
          </p:nvPr>
        </p:nvSpPr>
        <p:spPr/>
        <p:txBody>
          <a:bodyPr/>
          <a:lstStyle/>
          <a:p>
            <a:fld id="{C6916D30-B163-44C8-95FC-838D61A53494}" type="datetimeFigureOut">
              <a:rPr lang="en-US" smtClean="0"/>
              <a:t>2/4/2026</a:t>
            </a:fld>
            <a:endParaRPr lang="en-US"/>
          </a:p>
        </p:txBody>
      </p:sp>
      <p:sp>
        <p:nvSpPr>
          <p:cNvPr id="8" name="Footer Placeholder 7">
            <a:extLst>
              <a:ext uri="{FF2B5EF4-FFF2-40B4-BE49-F238E27FC236}">
                <a16:creationId xmlns:a16="http://schemas.microsoft.com/office/drawing/2014/main" id="{332223BF-36A4-EA13-3B84-744C38B639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5F8383-72C1-3C32-5955-AAC0DA1B300D}"/>
              </a:ext>
            </a:extLst>
          </p:cNvPr>
          <p:cNvSpPr>
            <a:spLocks noGrp="1"/>
          </p:cNvSpPr>
          <p:nvPr>
            <p:ph type="sldNum" sz="quarter" idx="12"/>
          </p:nvPr>
        </p:nvSpPr>
        <p:spPr/>
        <p:txBody>
          <a:bodyPr/>
          <a:lstStyle/>
          <a:p>
            <a:fld id="{6A0A83FE-E656-4CCE-BD92-FBA44D8E43F3}" type="slidenum">
              <a:rPr lang="en-US" smtClean="0"/>
              <a:t>‹#›</a:t>
            </a:fld>
            <a:endParaRPr lang="en-US"/>
          </a:p>
        </p:txBody>
      </p:sp>
    </p:spTree>
    <p:extLst>
      <p:ext uri="{BB962C8B-B14F-4D97-AF65-F5344CB8AC3E}">
        <p14:creationId xmlns:p14="http://schemas.microsoft.com/office/powerpoint/2010/main" val="3667253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1FAC2-1676-B7FA-2ECC-5797D1BEC1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4AD4E3-75BF-7E20-814D-C95E9D2BF521}"/>
              </a:ext>
            </a:extLst>
          </p:cNvPr>
          <p:cNvSpPr>
            <a:spLocks noGrp="1"/>
          </p:cNvSpPr>
          <p:nvPr>
            <p:ph type="dt" sz="half" idx="10"/>
          </p:nvPr>
        </p:nvSpPr>
        <p:spPr/>
        <p:txBody>
          <a:bodyPr/>
          <a:lstStyle/>
          <a:p>
            <a:fld id="{C6916D30-B163-44C8-95FC-838D61A53494}" type="datetimeFigureOut">
              <a:rPr lang="en-US" smtClean="0"/>
              <a:t>2/4/2026</a:t>
            </a:fld>
            <a:endParaRPr lang="en-US"/>
          </a:p>
        </p:txBody>
      </p:sp>
      <p:sp>
        <p:nvSpPr>
          <p:cNvPr id="4" name="Footer Placeholder 3">
            <a:extLst>
              <a:ext uri="{FF2B5EF4-FFF2-40B4-BE49-F238E27FC236}">
                <a16:creationId xmlns:a16="http://schemas.microsoft.com/office/drawing/2014/main" id="{4B05B9CA-C36B-7CDB-8297-FE6CD879F4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2F83643-027F-986B-DB8C-B97C773D5E08}"/>
              </a:ext>
            </a:extLst>
          </p:cNvPr>
          <p:cNvSpPr>
            <a:spLocks noGrp="1"/>
          </p:cNvSpPr>
          <p:nvPr>
            <p:ph type="sldNum" sz="quarter" idx="12"/>
          </p:nvPr>
        </p:nvSpPr>
        <p:spPr/>
        <p:txBody>
          <a:bodyPr/>
          <a:lstStyle/>
          <a:p>
            <a:fld id="{6A0A83FE-E656-4CCE-BD92-FBA44D8E43F3}" type="slidenum">
              <a:rPr lang="en-US" smtClean="0"/>
              <a:t>‹#›</a:t>
            </a:fld>
            <a:endParaRPr lang="en-US"/>
          </a:p>
        </p:txBody>
      </p:sp>
    </p:spTree>
    <p:extLst>
      <p:ext uri="{BB962C8B-B14F-4D97-AF65-F5344CB8AC3E}">
        <p14:creationId xmlns:p14="http://schemas.microsoft.com/office/powerpoint/2010/main" val="335072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B03773-B34A-1B9B-F1B0-47359192C8BA}"/>
              </a:ext>
            </a:extLst>
          </p:cNvPr>
          <p:cNvSpPr>
            <a:spLocks noGrp="1"/>
          </p:cNvSpPr>
          <p:nvPr>
            <p:ph type="dt" sz="half" idx="10"/>
          </p:nvPr>
        </p:nvSpPr>
        <p:spPr/>
        <p:txBody>
          <a:bodyPr/>
          <a:lstStyle/>
          <a:p>
            <a:fld id="{C6916D30-B163-44C8-95FC-838D61A53494}" type="datetimeFigureOut">
              <a:rPr lang="en-US" smtClean="0"/>
              <a:t>2/4/2026</a:t>
            </a:fld>
            <a:endParaRPr lang="en-US"/>
          </a:p>
        </p:txBody>
      </p:sp>
      <p:sp>
        <p:nvSpPr>
          <p:cNvPr id="3" name="Footer Placeholder 2">
            <a:extLst>
              <a:ext uri="{FF2B5EF4-FFF2-40B4-BE49-F238E27FC236}">
                <a16:creationId xmlns:a16="http://schemas.microsoft.com/office/drawing/2014/main" id="{7F359E95-2227-308D-953E-0CDE6D37D3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843F45-F22D-B4C3-E6B5-379E0B48822D}"/>
              </a:ext>
            </a:extLst>
          </p:cNvPr>
          <p:cNvSpPr>
            <a:spLocks noGrp="1"/>
          </p:cNvSpPr>
          <p:nvPr>
            <p:ph type="sldNum" sz="quarter" idx="12"/>
          </p:nvPr>
        </p:nvSpPr>
        <p:spPr/>
        <p:txBody>
          <a:bodyPr/>
          <a:lstStyle/>
          <a:p>
            <a:fld id="{6A0A83FE-E656-4CCE-BD92-FBA44D8E43F3}" type="slidenum">
              <a:rPr lang="en-US" smtClean="0"/>
              <a:t>‹#›</a:t>
            </a:fld>
            <a:endParaRPr lang="en-US"/>
          </a:p>
        </p:txBody>
      </p:sp>
    </p:spTree>
    <p:extLst>
      <p:ext uri="{BB962C8B-B14F-4D97-AF65-F5344CB8AC3E}">
        <p14:creationId xmlns:p14="http://schemas.microsoft.com/office/powerpoint/2010/main" val="1916405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1C2C6-F237-A0DA-B821-AED860DFAC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C3AC8D-5961-2222-ED9D-D13F1F340C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4DC8CB-7C6C-D334-DE7C-6833F92C7D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8299F4-25B0-BD0B-4F4E-0F30CA34BCF9}"/>
              </a:ext>
            </a:extLst>
          </p:cNvPr>
          <p:cNvSpPr>
            <a:spLocks noGrp="1"/>
          </p:cNvSpPr>
          <p:nvPr>
            <p:ph type="dt" sz="half" idx="10"/>
          </p:nvPr>
        </p:nvSpPr>
        <p:spPr/>
        <p:txBody>
          <a:bodyPr/>
          <a:lstStyle/>
          <a:p>
            <a:fld id="{C6916D30-B163-44C8-95FC-838D61A53494}" type="datetimeFigureOut">
              <a:rPr lang="en-US" smtClean="0"/>
              <a:t>2/4/2026</a:t>
            </a:fld>
            <a:endParaRPr lang="en-US"/>
          </a:p>
        </p:txBody>
      </p:sp>
      <p:sp>
        <p:nvSpPr>
          <p:cNvPr id="6" name="Footer Placeholder 5">
            <a:extLst>
              <a:ext uri="{FF2B5EF4-FFF2-40B4-BE49-F238E27FC236}">
                <a16:creationId xmlns:a16="http://schemas.microsoft.com/office/drawing/2014/main" id="{0717517B-1D04-014B-D730-9CCA4C4DD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EED86D-19CC-7A2A-A614-8EBD4E719A24}"/>
              </a:ext>
            </a:extLst>
          </p:cNvPr>
          <p:cNvSpPr>
            <a:spLocks noGrp="1"/>
          </p:cNvSpPr>
          <p:nvPr>
            <p:ph type="sldNum" sz="quarter" idx="12"/>
          </p:nvPr>
        </p:nvSpPr>
        <p:spPr/>
        <p:txBody>
          <a:bodyPr/>
          <a:lstStyle/>
          <a:p>
            <a:fld id="{6A0A83FE-E656-4CCE-BD92-FBA44D8E43F3}" type="slidenum">
              <a:rPr lang="en-US" smtClean="0"/>
              <a:t>‹#›</a:t>
            </a:fld>
            <a:endParaRPr lang="en-US"/>
          </a:p>
        </p:txBody>
      </p:sp>
    </p:spTree>
    <p:extLst>
      <p:ext uri="{BB962C8B-B14F-4D97-AF65-F5344CB8AC3E}">
        <p14:creationId xmlns:p14="http://schemas.microsoft.com/office/powerpoint/2010/main" val="2358436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12A71-A049-6D90-9DC5-81809B5D8B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91E8874-7A92-4A88-5CED-AF1136016C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10C6DA-F946-2222-3EE6-E79CF8288A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46EE47-56BD-E7B5-0ECD-7C0570424D78}"/>
              </a:ext>
            </a:extLst>
          </p:cNvPr>
          <p:cNvSpPr>
            <a:spLocks noGrp="1"/>
          </p:cNvSpPr>
          <p:nvPr>
            <p:ph type="dt" sz="half" idx="10"/>
          </p:nvPr>
        </p:nvSpPr>
        <p:spPr/>
        <p:txBody>
          <a:bodyPr/>
          <a:lstStyle/>
          <a:p>
            <a:fld id="{C6916D30-B163-44C8-95FC-838D61A53494}" type="datetimeFigureOut">
              <a:rPr lang="en-US" smtClean="0"/>
              <a:t>2/4/2026</a:t>
            </a:fld>
            <a:endParaRPr lang="en-US"/>
          </a:p>
        </p:txBody>
      </p:sp>
      <p:sp>
        <p:nvSpPr>
          <p:cNvPr id="6" name="Footer Placeholder 5">
            <a:extLst>
              <a:ext uri="{FF2B5EF4-FFF2-40B4-BE49-F238E27FC236}">
                <a16:creationId xmlns:a16="http://schemas.microsoft.com/office/drawing/2014/main" id="{703A0525-392C-A39F-7388-3BBC3DC73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8FFF00-23F3-247E-54DC-7F41C564BEFE}"/>
              </a:ext>
            </a:extLst>
          </p:cNvPr>
          <p:cNvSpPr>
            <a:spLocks noGrp="1"/>
          </p:cNvSpPr>
          <p:nvPr>
            <p:ph type="sldNum" sz="quarter" idx="12"/>
          </p:nvPr>
        </p:nvSpPr>
        <p:spPr/>
        <p:txBody>
          <a:bodyPr/>
          <a:lstStyle/>
          <a:p>
            <a:fld id="{6A0A83FE-E656-4CCE-BD92-FBA44D8E43F3}" type="slidenum">
              <a:rPr lang="en-US" smtClean="0"/>
              <a:t>‹#›</a:t>
            </a:fld>
            <a:endParaRPr lang="en-US"/>
          </a:p>
        </p:txBody>
      </p:sp>
    </p:spTree>
    <p:extLst>
      <p:ext uri="{BB962C8B-B14F-4D97-AF65-F5344CB8AC3E}">
        <p14:creationId xmlns:p14="http://schemas.microsoft.com/office/powerpoint/2010/main" val="3533722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7B33D-AC9D-9EBF-147C-81CBB48A28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A5CADC-03FC-1003-FB6B-DFEE3C4917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0079FD-FBD5-2E54-F2D5-4453A87339C2}"/>
              </a:ext>
            </a:extLst>
          </p:cNvPr>
          <p:cNvSpPr>
            <a:spLocks noGrp="1"/>
          </p:cNvSpPr>
          <p:nvPr>
            <p:ph type="dt" sz="half" idx="10"/>
          </p:nvPr>
        </p:nvSpPr>
        <p:spPr/>
        <p:txBody>
          <a:bodyPr/>
          <a:lstStyle/>
          <a:p>
            <a:fld id="{C6916D30-B163-44C8-95FC-838D61A53494}" type="datetimeFigureOut">
              <a:rPr lang="en-US" smtClean="0"/>
              <a:t>2/4/2026</a:t>
            </a:fld>
            <a:endParaRPr lang="en-US"/>
          </a:p>
        </p:txBody>
      </p:sp>
      <p:sp>
        <p:nvSpPr>
          <p:cNvPr id="5" name="Footer Placeholder 4">
            <a:extLst>
              <a:ext uri="{FF2B5EF4-FFF2-40B4-BE49-F238E27FC236}">
                <a16:creationId xmlns:a16="http://schemas.microsoft.com/office/drawing/2014/main" id="{028615B6-5B79-2B9D-7550-3D35848662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A036A5-ED4A-5217-ED1E-8DDE78F47746}"/>
              </a:ext>
            </a:extLst>
          </p:cNvPr>
          <p:cNvSpPr>
            <a:spLocks noGrp="1"/>
          </p:cNvSpPr>
          <p:nvPr>
            <p:ph type="sldNum" sz="quarter" idx="12"/>
          </p:nvPr>
        </p:nvSpPr>
        <p:spPr/>
        <p:txBody>
          <a:bodyPr/>
          <a:lstStyle/>
          <a:p>
            <a:fld id="{6A0A83FE-E656-4CCE-BD92-FBA44D8E43F3}" type="slidenum">
              <a:rPr lang="en-US" smtClean="0"/>
              <a:t>‹#›</a:t>
            </a:fld>
            <a:endParaRPr lang="en-US"/>
          </a:p>
        </p:txBody>
      </p:sp>
    </p:spTree>
    <p:extLst>
      <p:ext uri="{BB962C8B-B14F-4D97-AF65-F5344CB8AC3E}">
        <p14:creationId xmlns:p14="http://schemas.microsoft.com/office/powerpoint/2010/main" val="4153469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5E64CA-FAF4-4DC0-8A2F-12A56098BE4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8E8A63-E706-4BFE-DF8D-1D6582C818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697F20-FFDE-15ED-E020-87476ED35E95}"/>
              </a:ext>
            </a:extLst>
          </p:cNvPr>
          <p:cNvSpPr>
            <a:spLocks noGrp="1"/>
          </p:cNvSpPr>
          <p:nvPr>
            <p:ph type="dt" sz="half" idx="10"/>
          </p:nvPr>
        </p:nvSpPr>
        <p:spPr/>
        <p:txBody>
          <a:bodyPr/>
          <a:lstStyle/>
          <a:p>
            <a:fld id="{C6916D30-B163-44C8-95FC-838D61A53494}" type="datetimeFigureOut">
              <a:rPr lang="en-US" smtClean="0"/>
              <a:t>2/4/2026</a:t>
            </a:fld>
            <a:endParaRPr lang="en-US"/>
          </a:p>
        </p:txBody>
      </p:sp>
      <p:sp>
        <p:nvSpPr>
          <p:cNvPr id="5" name="Footer Placeholder 4">
            <a:extLst>
              <a:ext uri="{FF2B5EF4-FFF2-40B4-BE49-F238E27FC236}">
                <a16:creationId xmlns:a16="http://schemas.microsoft.com/office/drawing/2014/main" id="{F2B1CFB2-9364-6E39-DBF7-E3A94661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B047EF-9766-5B03-6B67-9AA7714172E8}"/>
              </a:ext>
            </a:extLst>
          </p:cNvPr>
          <p:cNvSpPr>
            <a:spLocks noGrp="1"/>
          </p:cNvSpPr>
          <p:nvPr>
            <p:ph type="sldNum" sz="quarter" idx="12"/>
          </p:nvPr>
        </p:nvSpPr>
        <p:spPr/>
        <p:txBody>
          <a:bodyPr/>
          <a:lstStyle/>
          <a:p>
            <a:fld id="{6A0A83FE-E656-4CCE-BD92-FBA44D8E43F3}" type="slidenum">
              <a:rPr lang="en-US" smtClean="0"/>
              <a:t>‹#›</a:t>
            </a:fld>
            <a:endParaRPr lang="en-US"/>
          </a:p>
        </p:txBody>
      </p:sp>
    </p:spTree>
    <p:extLst>
      <p:ext uri="{BB962C8B-B14F-4D97-AF65-F5344CB8AC3E}">
        <p14:creationId xmlns:p14="http://schemas.microsoft.com/office/powerpoint/2010/main" val="3824708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AF"/>
            </a:gs>
            <a:gs pos="82000">
              <a:srgbClr val="F2A136"/>
            </a:gs>
            <a:gs pos="100000">
              <a:schemeClr val="accent2"/>
            </a:gs>
          </a:gsLst>
          <a:lin ang="27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77D2E0-ECCC-EE92-6CEB-6B2051330E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64832F-7247-7896-3A3B-FBF1213A1A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7BA64B-505D-40AD-E5B8-6EF7D1C97B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916D30-B163-44C8-95FC-838D61A53494}" type="datetimeFigureOut">
              <a:rPr lang="en-US" smtClean="0"/>
              <a:t>2/4/2026</a:t>
            </a:fld>
            <a:endParaRPr lang="en-US"/>
          </a:p>
        </p:txBody>
      </p:sp>
      <p:sp>
        <p:nvSpPr>
          <p:cNvPr id="5" name="Footer Placeholder 4">
            <a:extLst>
              <a:ext uri="{FF2B5EF4-FFF2-40B4-BE49-F238E27FC236}">
                <a16:creationId xmlns:a16="http://schemas.microsoft.com/office/drawing/2014/main" id="{8C063C9C-2928-3019-37C6-B24B5081EB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81A8B13-FA87-3CEF-F778-7AECFAB18F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0A83FE-E656-4CCE-BD92-FBA44D8E43F3}" type="slidenum">
              <a:rPr lang="en-US" smtClean="0"/>
              <a:t>‹#›</a:t>
            </a:fld>
            <a:endParaRPr lang="en-US"/>
          </a:p>
        </p:txBody>
      </p:sp>
    </p:spTree>
    <p:extLst>
      <p:ext uri="{BB962C8B-B14F-4D97-AF65-F5344CB8AC3E}">
        <p14:creationId xmlns:p14="http://schemas.microsoft.com/office/powerpoint/2010/main" val="3811847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firehydrant.com/blog/best-practices-for-creating-on-call-rotations-and-schedules/" TargetMode="External"/><Relationship Id="rId2" Type="http://schemas.openxmlformats.org/officeDocument/2006/relationships/hyperlink" Target="https://www.atlassian.com/incident-management/on-call/improving-on-call#you-built-it-you-maintain-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29F6B-74FF-4A1A-24D3-B54B7F783819}"/>
              </a:ext>
            </a:extLst>
          </p:cNvPr>
          <p:cNvSpPr>
            <a:spLocks noGrp="1"/>
          </p:cNvSpPr>
          <p:nvPr>
            <p:ph type="ctrTitle"/>
          </p:nvPr>
        </p:nvSpPr>
        <p:spPr/>
        <p:txBody>
          <a:bodyPr/>
          <a:lstStyle/>
          <a:p>
            <a:r>
              <a:rPr lang="en-US" dirty="0"/>
              <a:t>Pager Rotation Best Practices</a:t>
            </a:r>
          </a:p>
        </p:txBody>
      </p:sp>
      <p:sp>
        <p:nvSpPr>
          <p:cNvPr id="3" name="Subtitle 2">
            <a:extLst>
              <a:ext uri="{FF2B5EF4-FFF2-40B4-BE49-F238E27FC236}">
                <a16:creationId xmlns:a16="http://schemas.microsoft.com/office/drawing/2014/main" id="{E658F38E-2922-14F0-A40B-0B15D35EF224}"/>
              </a:ext>
            </a:extLst>
          </p:cNvPr>
          <p:cNvSpPr>
            <a:spLocks noGrp="1"/>
          </p:cNvSpPr>
          <p:nvPr>
            <p:ph type="subTitle" idx="1"/>
          </p:nvPr>
        </p:nvSpPr>
        <p:spPr/>
        <p:txBody>
          <a:bodyPr>
            <a:normAutofit lnSpcReduction="10000"/>
          </a:bodyPr>
          <a:lstStyle/>
          <a:p>
            <a:r>
              <a:rPr lang="en-US" dirty="0"/>
              <a:t>Daniel Preller</a:t>
            </a:r>
          </a:p>
          <a:p>
            <a:r>
              <a:rPr lang="en-US" dirty="0"/>
              <a:t>CSD 380</a:t>
            </a:r>
          </a:p>
          <a:p>
            <a:r>
              <a:rPr lang="en-US" dirty="0"/>
              <a:t>Dr Toni Farley</a:t>
            </a:r>
          </a:p>
          <a:p>
            <a:r>
              <a:rPr lang="en-US" dirty="0"/>
              <a:t>4 February 2026</a:t>
            </a:r>
          </a:p>
        </p:txBody>
      </p:sp>
    </p:spTree>
    <p:extLst>
      <p:ext uri="{BB962C8B-B14F-4D97-AF65-F5344CB8AC3E}">
        <p14:creationId xmlns:p14="http://schemas.microsoft.com/office/powerpoint/2010/main" val="2514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8F353-D18B-DD09-D4E9-9FFF8B8E6F67}"/>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What is Pager Rotation?</a:t>
            </a:r>
          </a:p>
        </p:txBody>
      </p:sp>
      <p:sp>
        <p:nvSpPr>
          <p:cNvPr id="3" name="Content Placeholder 2">
            <a:extLst>
              <a:ext uri="{FF2B5EF4-FFF2-40B4-BE49-F238E27FC236}">
                <a16:creationId xmlns:a16="http://schemas.microsoft.com/office/drawing/2014/main" id="{9A0C427F-9098-D1E3-873A-7404C0866691}"/>
              </a:ext>
            </a:extLst>
          </p:cNvPr>
          <p:cNvSpPr>
            <a:spLocks noGrp="1"/>
          </p:cNvSpPr>
          <p:nvPr>
            <p:ph idx="1"/>
          </p:nvPr>
        </p:nvSpPr>
        <p:spPr/>
        <p:txBody>
          <a:bodyPr>
            <a:normAutofit fontScale="92500" lnSpcReduction="10000"/>
          </a:bodyPr>
          <a:lstStyle/>
          <a:p>
            <a:r>
              <a:rPr lang="en-US" dirty="0">
                <a:latin typeface="Calibri" panose="020F0502020204030204" pitchFamily="34" charset="0"/>
                <a:ea typeface="Calibri" panose="020F0502020204030204" pitchFamily="34" charset="0"/>
                <a:cs typeface="Calibri" panose="020F0502020204030204" pitchFamily="34" charset="0"/>
              </a:rPr>
              <a:t>All services experience problems and downtime.</a:t>
            </a:r>
          </a:p>
          <a:p>
            <a:r>
              <a:rPr lang="en-US" dirty="0">
                <a:latin typeface="Calibri" panose="020F0502020204030204" pitchFamily="34" charset="0"/>
                <a:ea typeface="Calibri" panose="020F0502020204030204" pitchFamily="34" charset="0"/>
                <a:cs typeface="Calibri" panose="020F0502020204030204" pitchFamily="34" charset="0"/>
              </a:rPr>
              <a:t>“Even when our production deployments and releases go flawlessly, in any complex service we still have unexpected problems, such as incidents and outages that happen at inopportune times” (Kim et al., 2021, p. 263).</a:t>
            </a:r>
          </a:p>
          <a:p>
            <a:r>
              <a:rPr lang="en-US" dirty="0">
                <a:latin typeface="Calibri" panose="020F0502020204030204" pitchFamily="34" charset="0"/>
                <a:ea typeface="Calibri" panose="020F0502020204030204" pitchFamily="34" charset="0"/>
                <a:cs typeface="Calibri" panose="020F0502020204030204" pitchFamily="34" charset="0"/>
              </a:rPr>
              <a:t>On call engineers are those who are on call, available to resolve a problem whenever one occurs.</a:t>
            </a:r>
          </a:p>
          <a:p>
            <a:r>
              <a:rPr lang="en-US" dirty="0">
                <a:latin typeface="Calibri" panose="020F0502020204030204" pitchFamily="34" charset="0"/>
                <a:ea typeface="Calibri" panose="020F0502020204030204" pitchFamily="34" charset="0"/>
                <a:cs typeface="Calibri" panose="020F0502020204030204" pitchFamily="34" charset="0"/>
              </a:rPr>
              <a:t>A pager rotation, or on-call rotation, is a schedule that cycles through different engineers so someone is always available.</a:t>
            </a:r>
          </a:p>
          <a:p>
            <a:r>
              <a:rPr lang="en-US" dirty="0">
                <a:latin typeface="Calibri" panose="020F0502020204030204" pitchFamily="34" charset="0"/>
                <a:ea typeface="Calibri" panose="020F0502020204030204" pitchFamily="34" charset="0"/>
                <a:cs typeface="Calibri" panose="020F0502020204030204" pitchFamily="34" charset="0"/>
              </a:rPr>
              <a:t>“An on-call rotation is a schedule that rotates through a group of engineers so that there is always someone available to immediately respond to incidents” (</a:t>
            </a:r>
            <a:r>
              <a:rPr lang="en-US" dirty="0" err="1">
                <a:latin typeface="Calibri" panose="020F0502020204030204" pitchFamily="34" charset="0"/>
                <a:ea typeface="Calibri" panose="020F0502020204030204" pitchFamily="34" charset="0"/>
                <a:cs typeface="Calibri" panose="020F0502020204030204" pitchFamily="34" charset="0"/>
              </a:rPr>
              <a:t>FireHydrant</a:t>
            </a:r>
            <a:r>
              <a:rPr lang="en-US" dirty="0">
                <a:latin typeface="Calibri" panose="020F0502020204030204" pitchFamily="34" charset="0"/>
                <a:ea typeface="Calibri" panose="020F0502020204030204" pitchFamily="34" charset="0"/>
                <a:cs typeface="Calibri" panose="020F0502020204030204" pitchFamily="34" charset="0"/>
              </a:rPr>
              <a:t>, 2024, n.p.).</a:t>
            </a:r>
          </a:p>
        </p:txBody>
      </p:sp>
    </p:spTree>
    <p:extLst>
      <p:ext uri="{BB962C8B-B14F-4D97-AF65-F5344CB8AC3E}">
        <p14:creationId xmlns:p14="http://schemas.microsoft.com/office/powerpoint/2010/main" val="382256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E4838-4928-9178-30B2-EE71EC6AC8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77894-B5F9-58A2-D1A4-0C96FD2532EC}"/>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Developers on Pager Rotation</a:t>
            </a:r>
          </a:p>
        </p:txBody>
      </p:sp>
      <p:sp>
        <p:nvSpPr>
          <p:cNvPr id="3" name="Content Placeholder 2">
            <a:extLst>
              <a:ext uri="{FF2B5EF4-FFF2-40B4-BE49-F238E27FC236}">
                <a16:creationId xmlns:a16="http://schemas.microsoft.com/office/drawing/2014/main" id="{A6A96AD6-A3DA-6C6E-7976-2E7F512CDBD9}"/>
              </a:ext>
            </a:extLst>
          </p:cNvPr>
          <p:cNvSpPr>
            <a:spLocks noGrp="1"/>
          </p:cNvSpPr>
          <p:nvPr>
            <p:ph idx="1"/>
          </p:nvPr>
        </p:nvSpPr>
        <p:spPr/>
        <p:txBody>
          <a:bodyPr>
            <a:normAutofit fontScale="92500" lnSpcReduction="10000"/>
          </a:bodyPr>
          <a:lstStyle/>
          <a:p>
            <a:r>
              <a:rPr lang="en-US" dirty="0">
                <a:latin typeface="Calibri" panose="020F0502020204030204" pitchFamily="34" charset="0"/>
                <a:ea typeface="Calibri" panose="020F0502020204030204" pitchFamily="34" charset="0"/>
                <a:cs typeface="Calibri" panose="020F0502020204030204" pitchFamily="34" charset="0"/>
              </a:rPr>
              <a:t>Traditionally, pager rotation has been a role for operations, while development remained on traditional schedules.</a:t>
            </a:r>
          </a:p>
          <a:p>
            <a:r>
              <a:rPr lang="en-US" dirty="0">
                <a:latin typeface="Calibri" panose="020F0502020204030204" pitchFamily="34" charset="0"/>
                <a:ea typeface="Calibri" panose="020F0502020204030204" pitchFamily="34" charset="0"/>
                <a:cs typeface="Calibri" panose="020F0502020204030204" pitchFamily="34" charset="0"/>
              </a:rPr>
              <a:t>DevOps principles have encouraged developers to be involved in pager rotations.</a:t>
            </a:r>
          </a:p>
          <a:p>
            <a:r>
              <a:rPr lang="en-US" dirty="0">
                <a:latin typeface="Calibri" panose="020F0502020204030204" pitchFamily="34" charset="0"/>
                <a:ea typeface="Calibri" panose="020F0502020204030204" pitchFamily="34" charset="0"/>
                <a:cs typeface="Calibri" panose="020F0502020204030204" pitchFamily="34" charset="0"/>
              </a:rPr>
              <a:t>DevOps introduced the concept of “you built it, you maintain it” (Atlassian, n.d., n.p.).</a:t>
            </a:r>
          </a:p>
          <a:p>
            <a:r>
              <a:rPr lang="en-US" dirty="0">
                <a:latin typeface="Calibri" panose="020F0502020204030204" pitchFamily="34" charset="0"/>
                <a:ea typeface="Calibri" panose="020F0502020204030204" pitchFamily="34" charset="0"/>
                <a:cs typeface="Calibri" panose="020F0502020204030204" pitchFamily="34" charset="0"/>
              </a:rPr>
              <a:t>This encourages developers to write more stable code and allows those most familiar with the code to fix it when something goes wrong.</a:t>
            </a:r>
          </a:p>
          <a:p>
            <a:r>
              <a:rPr lang="en-US" dirty="0">
                <a:latin typeface="Calibri" panose="020F0502020204030204" pitchFamily="34" charset="0"/>
                <a:ea typeface="Calibri" panose="020F0502020204030204" pitchFamily="34" charset="0"/>
                <a:cs typeface="Calibri" panose="020F0502020204030204" pitchFamily="34" charset="0"/>
              </a:rPr>
              <a:t>Developers are more motivated to write resilient code when they know they could get called in during the middle of the night if the code fails (Kim et al., 2021, p. 263).</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54365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6AF47-DE4B-DF0D-B065-4BD54C7D5B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2AEEC-5E34-0E93-BFFB-90B99C195062}"/>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Creating a Pager Rotation Schedule</a:t>
            </a:r>
          </a:p>
        </p:txBody>
      </p:sp>
      <p:sp>
        <p:nvSpPr>
          <p:cNvPr id="3" name="Content Placeholder 2">
            <a:extLst>
              <a:ext uri="{FF2B5EF4-FFF2-40B4-BE49-F238E27FC236}">
                <a16:creationId xmlns:a16="http://schemas.microsoft.com/office/drawing/2014/main" id="{3F87614F-CAE2-B336-5525-C4A88EDBFE99}"/>
              </a:ext>
            </a:extLst>
          </p:cNvPr>
          <p:cNvSpPr>
            <a:spLocks noGrp="1"/>
          </p:cNvSpPr>
          <p:nvPr>
            <p:ph idx="1"/>
          </p:nvPr>
        </p:nvSpPr>
        <p:spPr/>
        <p:txBody>
          <a:bodyPr>
            <a:normAutofit lnSpcReduction="10000"/>
          </a:bodyPr>
          <a:lstStyle/>
          <a:p>
            <a:r>
              <a:rPr lang="en-US" dirty="0">
                <a:latin typeface="Calibri" panose="020F0502020204030204" pitchFamily="34" charset="0"/>
                <a:ea typeface="Calibri" panose="020F0502020204030204" pitchFamily="34" charset="0"/>
                <a:cs typeface="Calibri" panose="020F0502020204030204" pitchFamily="34" charset="0"/>
              </a:rPr>
              <a:t>Establishing a schedule is the first step in creating a pager rotation.</a:t>
            </a:r>
          </a:p>
          <a:p>
            <a:r>
              <a:rPr lang="en-US" dirty="0">
                <a:latin typeface="Calibri" panose="020F0502020204030204" pitchFamily="34" charset="0"/>
                <a:ea typeface="Calibri" panose="020F0502020204030204" pitchFamily="34" charset="0"/>
                <a:cs typeface="Calibri" panose="020F0502020204030204" pitchFamily="34" charset="0"/>
              </a:rPr>
              <a:t>For small teams, it is essential to alternate engineers enough that they do not become fatigued (</a:t>
            </a:r>
            <a:r>
              <a:rPr lang="en-US" dirty="0" err="1">
                <a:latin typeface="Calibri" panose="020F0502020204030204" pitchFamily="34" charset="0"/>
                <a:ea typeface="Calibri" panose="020F0502020204030204" pitchFamily="34" charset="0"/>
                <a:cs typeface="Calibri" panose="020F0502020204030204" pitchFamily="34" charset="0"/>
              </a:rPr>
              <a:t>FireHydrant</a:t>
            </a:r>
            <a:r>
              <a:rPr lang="en-US" dirty="0">
                <a:latin typeface="Calibri" panose="020F0502020204030204" pitchFamily="34" charset="0"/>
                <a:ea typeface="Calibri" panose="020F0502020204030204" pitchFamily="34" charset="0"/>
                <a:cs typeface="Calibri" panose="020F0502020204030204" pitchFamily="34" charset="0"/>
              </a:rPr>
              <a:t>, 2024, n.p.).</a:t>
            </a:r>
          </a:p>
          <a:p>
            <a:r>
              <a:rPr lang="en-US" dirty="0">
                <a:latin typeface="Calibri" panose="020F0502020204030204" pitchFamily="34" charset="0"/>
                <a:ea typeface="Calibri" panose="020F0502020204030204" pitchFamily="34" charset="0"/>
                <a:cs typeface="Calibri" panose="020F0502020204030204" pitchFamily="34" charset="0"/>
              </a:rPr>
              <a:t>Splitting on-call duties across teams can help ensure the group of on-call engineers available at any one time has sufficient knowledge and skills, as well as preventing a lack of knowledge when the engineers are not available for their regular tasks (</a:t>
            </a:r>
            <a:r>
              <a:rPr lang="en-US" dirty="0" err="1">
                <a:latin typeface="Calibri" panose="020F0502020204030204" pitchFamily="34" charset="0"/>
                <a:ea typeface="Calibri" panose="020F0502020204030204" pitchFamily="34" charset="0"/>
                <a:cs typeface="Calibri" panose="020F0502020204030204" pitchFamily="34" charset="0"/>
              </a:rPr>
              <a:t>FireHydrant</a:t>
            </a:r>
            <a:r>
              <a:rPr lang="en-US" dirty="0">
                <a:latin typeface="Calibri" panose="020F0502020204030204" pitchFamily="34" charset="0"/>
                <a:ea typeface="Calibri" panose="020F0502020204030204" pitchFamily="34" charset="0"/>
                <a:cs typeface="Calibri" panose="020F0502020204030204" pitchFamily="34" charset="0"/>
              </a:rPr>
              <a:t>, 2024, n.p.).</a:t>
            </a:r>
          </a:p>
          <a:p>
            <a:r>
              <a:rPr lang="en-US" dirty="0">
                <a:latin typeface="Calibri" panose="020F0502020204030204" pitchFamily="34" charset="0"/>
                <a:ea typeface="Calibri" panose="020F0502020204030204" pitchFamily="34" charset="0"/>
                <a:cs typeface="Calibri" panose="020F0502020204030204" pitchFamily="34" charset="0"/>
              </a:rPr>
              <a:t>If a team is located across numerous time zones, then it may be possible to design a schedule in such a way that engineers only have to be on call during the day in their own time zones (</a:t>
            </a:r>
            <a:r>
              <a:rPr lang="en-US" dirty="0" err="1">
                <a:latin typeface="Calibri" panose="020F0502020204030204" pitchFamily="34" charset="0"/>
                <a:ea typeface="Calibri" panose="020F0502020204030204" pitchFamily="34" charset="0"/>
                <a:cs typeface="Calibri" panose="020F0502020204030204" pitchFamily="34" charset="0"/>
              </a:rPr>
              <a:t>FireHydrant</a:t>
            </a:r>
            <a:r>
              <a:rPr lang="en-US" dirty="0">
                <a:latin typeface="Calibri" panose="020F0502020204030204" pitchFamily="34" charset="0"/>
                <a:ea typeface="Calibri" panose="020F0502020204030204" pitchFamily="34" charset="0"/>
                <a:cs typeface="Calibri" panose="020F0502020204030204" pitchFamily="34" charset="0"/>
              </a:rPr>
              <a:t>, 2024, </a:t>
            </a:r>
            <a:r>
              <a:rPr lang="en-US" dirty="0" err="1">
                <a:latin typeface="Calibri" panose="020F0502020204030204" pitchFamily="34" charset="0"/>
                <a:ea typeface="Calibri" panose="020F0502020204030204" pitchFamily="34" charset="0"/>
                <a:cs typeface="Calibri" panose="020F0502020204030204" pitchFamily="34" charset="0"/>
              </a:rPr>
              <a:t>n.p</a:t>
            </a:r>
            <a:r>
              <a:rPr lang="en-US"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608216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5EEE4-855E-E07D-683B-613ED1658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40BDB-6F62-117E-C52C-2BF79308F991}"/>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Communication</a:t>
            </a:r>
          </a:p>
        </p:txBody>
      </p:sp>
      <p:sp>
        <p:nvSpPr>
          <p:cNvPr id="3" name="Content Placeholder 2">
            <a:extLst>
              <a:ext uri="{FF2B5EF4-FFF2-40B4-BE49-F238E27FC236}">
                <a16:creationId xmlns:a16="http://schemas.microsoft.com/office/drawing/2014/main" id="{7D657EF5-D825-402D-3A7F-1DA86965262A}"/>
              </a:ext>
            </a:extLst>
          </p:cNvPr>
          <p:cNvSpPr>
            <a:spLocks noGrp="1"/>
          </p:cNvSpPr>
          <p:nvPr>
            <p:ph idx="1"/>
          </p:nvPr>
        </p:nvSpPr>
        <p:spPr/>
        <p:txBody>
          <a:bodyPr>
            <a:normAutofit lnSpcReduction="10000"/>
          </a:bodyPr>
          <a:lstStyle/>
          <a:p>
            <a:r>
              <a:rPr lang="en-US" dirty="0">
                <a:latin typeface="Calibri" panose="020F0502020204030204" pitchFamily="34" charset="0"/>
                <a:ea typeface="Calibri" panose="020F0502020204030204" pitchFamily="34" charset="0"/>
                <a:cs typeface="Calibri" panose="020F0502020204030204" pitchFamily="34" charset="0"/>
              </a:rPr>
              <a:t>Proper communication is essential for a pager rotation to be accepted.</a:t>
            </a:r>
          </a:p>
          <a:p>
            <a:r>
              <a:rPr lang="en-US" dirty="0">
                <a:latin typeface="Calibri" panose="020F0502020204030204" pitchFamily="34" charset="0"/>
                <a:ea typeface="Calibri" panose="020F0502020204030204" pitchFamily="34" charset="0"/>
                <a:cs typeface="Calibri" panose="020F0502020204030204" pitchFamily="34" charset="0"/>
              </a:rPr>
              <a:t>“Transparency is the key to successful communication,” and as such, employers must be transparent about things such as how often engineers will be on call and whether they will have to be on call overnight (Atlassian, n.d., n.p.).</a:t>
            </a:r>
          </a:p>
          <a:p>
            <a:r>
              <a:rPr lang="en-US" dirty="0">
                <a:latin typeface="Calibri" panose="020F0502020204030204" pitchFamily="34" charset="0"/>
                <a:ea typeface="Calibri" panose="020F0502020204030204" pitchFamily="34" charset="0"/>
                <a:cs typeface="Calibri" panose="020F0502020204030204" pitchFamily="34" charset="0"/>
              </a:rPr>
              <a:t>On-call engineers need to be involved in the process of designing the rotation schedule (</a:t>
            </a:r>
            <a:r>
              <a:rPr lang="en-US" dirty="0" err="1">
                <a:latin typeface="Calibri" panose="020F0502020204030204" pitchFamily="34" charset="0"/>
                <a:ea typeface="Calibri" panose="020F0502020204030204" pitchFamily="34" charset="0"/>
                <a:cs typeface="Calibri" panose="020F0502020204030204" pitchFamily="34" charset="0"/>
              </a:rPr>
              <a:t>FireHydrant</a:t>
            </a:r>
            <a:r>
              <a:rPr lang="en-US" dirty="0">
                <a:latin typeface="Calibri" panose="020F0502020204030204" pitchFamily="34" charset="0"/>
                <a:ea typeface="Calibri" panose="020F0502020204030204" pitchFamily="34" charset="0"/>
                <a:cs typeface="Calibri" panose="020F0502020204030204" pitchFamily="34" charset="0"/>
              </a:rPr>
              <a:t>, 2024, </a:t>
            </a:r>
            <a:r>
              <a:rPr lang="en-US" dirty="0" err="1">
                <a:latin typeface="Calibri" panose="020F0502020204030204" pitchFamily="34" charset="0"/>
                <a:ea typeface="Calibri" panose="020F0502020204030204" pitchFamily="34" charset="0"/>
                <a:cs typeface="Calibri" panose="020F0502020204030204" pitchFamily="34" charset="0"/>
              </a:rPr>
              <a:t>n.p</a:t>
            </a:r>
            <a:r>
              <a:rPr lang="en-US" dirty="0">
                <a:latin typeface="Calibri" panose="020F0502020204030204" pitchFamily="34" charset="0"/>
                <a:ea typeface="Calibri" panose="020F0502020204030204" pitchFamily="34" charset="0"/>
                <a:cs typeface="Calibri" panose="020F0502020204030204" pitchFamily="34" charset="0"/>
              </a:rPr>
              <a:t>).</a:t>
            </a:r>
          </a:p>
          <a:p>
            <a:r>
              <a:rPr lang="en-US" dirty="0">
                <a:latin typeface="Calibri" panose="020F0502020204030204" pitchFamily="34" charset="0"/>
                <a:ea typeface="Calibri" panose="020F0502020204030204" pitchFamily="34" charset="0"/>
                <a:cs typeface="Calibri" panose="020F0502020204030204" pitchFamily="34" charset="0"/>
              </a:rPr>
              <a:t>Involving engineers in the scheduling process allows them to be on call during the times that work best for them, enabling them to be more productive.</a:t>
            </a:r>
          </a:p>
        </p:txBody>
      </p:sp>
    </p:spTree>
    <p:extLst>
      <p:ext uri="{BB962C8B-B14F-4D97-AF65-F5344CB8AC3E}">
        <p14:creationId xmlns:p14="http://schemas.microsoft.com/office/powerpoint/2010/main" val="3819111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BE181-2A35-B094-8614-27F8408DCD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53067A-F8DA-5A43-01A6-899C8B526FA3}"/>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Reducing the Number of Alerts</a:t>
            </a:r>
          </a:p>
        </p:txBody>
      </p:sp>
      <p:sp>
        <p:nvSpPr>
          <p:cNvPr id="3" name="Content Placeholder 2">
            <a:extLst>
              <a:ext uri="{FF2B5EF4-FFF2-40B4-BE49-F238E27FC236}">
                <a16:creationId xmlns:a16="http://schemas.microsoft.com/office/drawing/2014/main" id="{C689F1A0-5FD1-B5C0-F73A-58E1CEF43F8A}"/>
              </a:ext>
            </a:extLst>
          </p:cNvPr>
          <p:cNvSpPr>
            <a:spLocks noGrp="1"/>
          </p:cNvSpPr>
          <p:nvPr>
            <p:ph idx="1"/>
          </p:nvPr>
        </p:nvSpPr>
        <p:spPr/>
        <p:txBody>
          <a:bodyPr>
            <a:normAutofit fontScale="92500" lnSpcReduction="10000"/>
          </a:bodyPr>
          <a:lstStyle/>
          <a:p>
            <a:r>
              <a:rPr lang="en-US" dirty="0">
                <a:latin typeface="Calibri" panose="020F0502020204030204" pitchFamily="34" charset="0"/>
                <a:ea typeface="Calibri" panose="020F0502020204030204" pitchFamily="34" charset="0"/>
                <a:cs typeface="Calibri" panose="020F0502020204030204" pitchFamily="34" charset="0"/>
              </a:rPr>
              <a:t>To prevent on-call engineers from becoming fatigued, it is necessary to minimize the number of alerts to which they will have to respond.</a:t>
            </a:r>
          </a:p>
          <a:p>
            <a:r>
              <a:rPr lang="en-US" dirty="0">
                <a:latin typeface="Calibri" panose="020F0502020204030204" pitchFamily="34" charset="0"/>
                <a:ea typeface="Calibri" panose="020F0502020204030204" pitchFamily="34" charset="0"/>
                <a:cs typeface="Calibri" panose="020F0502020204030204" pitchFamily="34" charset="0"/>
              </a:rPr>
              <a:t>One of the most important ways of reducing alerts is identifying which alerts are critical; engineers do not need to be woken up because of a misspelled button label (Atlassian, n.d., n.p.).</a:t>
            </a:r>
          </a:p>
          <a:p>
            <a:r>
              <a:rPr lang="en-US" dirty="0">
                <a:latin typeface="Calibri" panose="020F0502020204030204" pitchFamily="34" charset="0"/>
                <a:ea typeface="Calibri" panose="020F0502020204030204" pitchFamily="34" charset="0"/>
                <a:cs typeface="Calibri" panose="020F0502020204030204" pitchFamily="34" charset="0"/>
              </a:rPr>
              <a:t>Automating as much work as possible keeps developers from being unnecessarily burdened with alerts (</a:t>
            </a:r>
            <a:r>
              <a:rPr lang="en-US" dirty="0" err="1">
                <a:latin typeface="Calibri" panose="020F0502020204030204" pitchFamily="34" charset="0"/>
                <a:ea typeface="Calibri" panose="020F0502020204030204" pitchFamily="34" charset="0"/>
                <a:cs typeface="Calibri" panose="020F0502020204030204" pitchFamily="34" charset="0"/>
              </a:rPr>
              <a:t>FireHydrant</a:t>
            </a:r>
            <a:r>
              <a:rPr lang="en-US" dirty="0">
                <a:latin typeface="Calibri" panose="020F0502020204030204" pitchFamily="34" charset="0"/>
                <a:ea typeface="Calibri" panose="020F0502020204030204" pitchFamily="34" charset="0"/>
                <a:cs typeface="Calibri" panose="020F0502020204030204" pitchFamily="34" charset="0"/>
              </a:rPr>
              <a:t>, 2024, n.p.).</a:t>
            </a:r>
          </a:p>
          <a:p>
            <a:r>
              <a:rPr lang="en-US" dirty="0">
                <a:latin typeface="Calibri" panose="020F0502020204030204" pitchFamily="34" charset="0"/>
                <a:ea typeface="Calibri" panose="020F0502020204030204" pitchFamily="34" charset="0"/>
                <a:cs typeface="Calibri" panose="020F0502020204030204" pitchFamily="34" charset="0"/>
              </a:rPr>
              <a:t>Reducing false positives by improving alerting mechanisms is essential for keeping alerts to a minimum (Atlassian, n.d., n.p.).</a:t>
            </a:r>
          </a:p>
          <a:p>
            <a:r>
              <a:rPr lang="en-US" dirty="0">
                <a:latin typeface="Calibri" panose="020F0502020204030204" pitchFamily="34" charset="0"/>
                <a:ea typeface="Calibri" panose="020F0502020204030204" pitchFamily="34" charset="0"/>
                <a:cs typeface="Calibri" panose="020F0502020204030204" pitchFamily="34" charset="0"/>
              </a:rPr>
              <a:t>The best way to reduce the number of alerts is to develop resilient software that will rarely experience downtime.</a:t>
            </a:r>
          </a:p>
        </p:txBody>
      </p:sp>
    </p:spTree>
    <p:extLst>
      <p:ext uri="{BB962C8B-B14F-4D97-AF65-F5344CB8AC3E}">
        <p14:creationId xmlns:p14="http://schemas.microsoft.com/office/powerpoint/2010/main" val="685850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D891B-2270-A437-9130-0A8B6C1189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4D30F1-7E5B-DB3C-AE51-E1B9B5807D76}"/>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Other Best Practices</a:t>
            </a:r>
          </a:p>
        </p:txBody>
      </p:sp>
      <p:sp>
        <p:nvSpPr>
          <p:cNvPr id="3" name="Content Placeholder 2">
            <a:extLst>
              <a:ext uri="{FF2B5EF4-FFF2-40B4-BE49-F238E27FC236}">
                <a16:creationId xmlns:a16="http://schemas.microsoft.com/office/drawing/2014/main" id="{EB8ECD4B-8516-5077-DF76-95105007E918}"/>
              </a:ext>
            </a:extLst>
          </p:cNvPr>
          <p:cNvSpPr>
            <a:spLocks noGrp="1"/>
          </p:cNvSpPr>
          <p:nvPr>
            <p:ph idx="1"/>
          </p:nvPr>
        </p:nvSpPr>
        <p:spPr/>
        <p:txBody>
          <a:bodyPr>
            <a:normAutofit lnSpcReduction="10000"/>
          </a:bodyPr>
          <a:lstStyle/>
          <a:p>
            <a:r>
              <a:rPr lang="en-US" dirty="0">
                <a:latin typeface="Calibri" panose="020F0502020204030204" pitchFamily="34" charset="0"/>
                <a:ea typeface="Calibri" panose="020F0502020204030204" pitchFamily="34" charset="0"/>
                <a:cs typeface="Calibri" panose="020F0502020204030204" pitchFamily="34" charset="0"/>
              </a:rPr>
              <a:t>Ensuring that the same developers who are on call are not also tasked with regular development work at the same time can help developers avoid productivity losses related to task-switching (Atlassian, n.d., n.p.).</a:t>
            </a:r>
          </a:p>
          <a:p>
            <a:r>
              <a:rPr lang="en-US" dirty="0">
                <a:latin typeface="Calibri" panose="020F0502020204030204" pitchFamily="34" charset="0"/>
                <a:ea typeface="Calibri" panose="020F0502020204030204" pitchFamily="34" charset="0"/>
                <a:cs typeface="Calibri" panose="020F0502020204030204" pitchFamily="34" charset="0"/>
              </a:rPr>
              <a:t>It is important to balance workloads for on-call engineers so they do not experience fatigue, such as by allowing them to work from home the next day or making sure they are not on call for days when they have critical functions (</a:t>
            </a:r>
            <a:r>
              <a:rPr lang="en-US" dirty="0" err="1">
                <a:latin typeface="Calibri" panose="020F0502020204030204" pitchFamily="34" charset="0"/>
                <a:ea typeface="Calibri" panose="020F0502020204030204" pitchFamily="34" charset="0"/>
                <a:cs typeface="Calibri" panose="020F0502020204030204" pitchFamily="34" charset="0"/>
              </a:rPr>
              <a:t>FireHydrant</a:t>
            </a:r>
            <a:r>
              <a:rPr lang="en-US" dirty="0">
                <a:latin typeface="Calibri" panose="020F0502020204030204" pitchFamily="34" charset="0"/>
                <a:ea typeface="Calibri" panose="020F0502020204030204" pitchFamily="34" charset="0"/>
                <a:cs typeface="Calibri" panose="020F0502020204030204" pitchFamily="34" charset="0"/>
              </a:rPr>
              <a:t>, 2024, n.p.).</a:t>
            </a:r>
          </a:p>
          <a:p>
            <a:r>
              <a:rPr lang="en-US" dirty="0">
                <a:latin typeface="Calibri" panose="020F0502020204030204" pitchFamily="34" charset="0"/>
                <a:ea typeface="Calibri" panose="020F0502020204030204" pitchFamily="34" charset="0"/>
                <a:cs typeface="Calibri" panose="020F0502020204030204" pitchFamily="34" charset="0"/>
              </a:rPr>
              <a:t>Pager rotations can be made into an iterative process, using feedback and metrics from previous schedules to improve the process going forward.</a:t>
            </a:r>
          </a:p>
        </p:txBody>
      </p:sp>
    </p:spTree>
    <p:extLst>
      <p:ext uri="{BB962C8B-B14F-4D97-AF65-F5344CB8AC3E}">
        <p14:creationId xmlns:p14="http://schemas.microsoft.com/office/powerpoint/2010/main" val="3370682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77799-D86E-B68C-25C6-CD65EFF02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E4513-1DB5-BE87-1A99-30CE8D139393}"/>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Conclusion</a:t>
            </a:r>
          </a:p>
        </p:txBody>
      </p:sp>
      <p:sp>
        <p:nvSpPr>
          <p:cNvPr id="3" name="Content Placeholder 2">
            <a:extLst>
              <a:ext uri="{FF2B5EF4-FFF2-40B4-BE49-F238E27FC236}">
                <a16:creationId xmlns:a16="http://schemas.microsoft.com/office/drawing/2014/main" id="{47A05F08-258E-4C6C-EA7F-FB53B78F2B1A}"/>
              </a:ext>
            </a:extLst>
          </p:cNvPr>
          <p:cNvSpPr>
            <a:spLocks noGrp="1"/>
          </p:cNvSpPr>
          <p:nvPr>
            <p:ph idx="1"/>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Pager rotation involves having a rotation of engineers available to resolve issues in a service at a moment’s notice.</a:t>
            </a:r>
          </a:p>
          <a:p>
            <a:r>
              <a:rPr lang="en-US" dirty="0">
                <a:latin typeface="Calibri" panose="020F0502020204030204" pitchFamily="34" charset="0"/>
                <a:ea typeface="Calibri" panose="020F0502020204030204" pitchFamily="34" charset="0"/>
                <a:cs typeface="Calibri" panose="020F0502020204030204" pitchFamily="34" charset="0"/>
              </a:rPr>
              <a:t>By including developers in a pager rotation, they are more motivated to create resilient software, and the ones who know the software best are available to fix it when something goes wrong.</a:t>
            </a:r>
          </a:p>
          <a:p>
            <a:r>
              <a:rPr lang="en-US" dirty="0">
                <a:latin typeface="Calibri" panose="020F0502020204030204" pitchFamily="34" charset="0"/>
                <a:ea typeface="Calibri" panose="020F0502020204030204" pitchFamily="34" charset="0"/>
                <a:cs typeface="Calibri" panose="020F0502020204030204" pitchFamily="34" charset="0"/>
              </a:rPr>
              <a:t>By utilizing transparency, strong communication, and other best practices, pager rotations can be designed to effectively handle problems in a service without being taxing on engineers.</a:t>
            </a:r>
          </a:p>
        </p:txBody>
      </p:sp>
    </p:spTree>
    <p:extLst>
      <p:ext uri="{BB962C8B-B14F-4D97-AF65-F5344CB8AC3E}">
        <p14:creationId xmlns:p14="http://schemas.microsoft.com/office/powerpoint/2010/main" val="2357435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8880C-0093-2E3F-3ED9-B5A114378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29304-E12B-0E02-5DF2-CB69F13799F2}"/>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References</a:t>
            </a:r>
          </a:p>
        </p:txBody>
      </p:sp>
      <p:sp>
        <p:nvSpPr>
          <p:cNvPr id="3" name="Content Placeholder 2">
            <a:extLst>
              <a:ext uri="{FF2B5EF4-FFF2-40B4-BE49-F238E27FC236}">
                <a16:creationId xmlns:a16="http://schemas.microsoft.com/office/drawing/2014/main" id="{E886A3CF-1E29-CF0F-9FA1-6CA888B003BA}"/>
              </a:ext>
            </a:extLst>
          </p:cNvPr>
          <p:cNvSpPr>
            <a:spLocks noGrp="1"/>
          </p:cNvSpPr>
          <p:nvPr>
            <p:ph idx="1"/>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Atlassian. (n.d.). “A manager’s guide to improving on-call.” </a:t>
            </a:r>
            <a:r>
              <a:rPr lang="en-US" i="1" dirty="0">
                <a:latin typeface="Calibri" panose="020F0502020204030204" pitchFamily="34" charset="0"/>
                <a:ea typeface="Calibri" panose="020F0502020204030204" pitchFamily="34" charset="0"/>
                <a:cs typeface="Calibri" panose="020F0502020204030204" pitchFamily="34" charset="0"/>
              </a:rPr>
              <a:t>Atlassian</a:t>
            </a:r>
            <a:r>
              <a:rPr lang="en-US" dirty="0">
                <a:latin typeface="Calibri" panose="020F0502020204030204" pitchFamily="34" charset="0"/>
                <a:ea typeface="Calibri" panose="020F0502020204030204" pitchFamily="34" charset="0"/>
                <a:cs typeface="Calibri" panose="020F0502020204030204" pitchFamily="34" charset="0"/>
              </a:rPr>
              <a:t>. Retrieved from </a:t>
            </a:r>
            <a:r>
              <a:rPr lang="en-US" dirty="0">
                <a:latin typeface="Calibri" panose="020F0502020204030204" pitchFamily="34" charset="0"/>
                <a:ea typeface="Calibri" panose="020F0502020204030204" pitchFamily="34" charset="0"/>
                <a:cs typeface="Calibri" panose="020F0502020204030204" pitchFamily="34" charset="0"/>
                <a:hlinkClick r:id="rId2"/>
              </a:rPr>
              <a:t>https://www.atlassian.com/incident-management/on-call/improving-on-call#you-built-it-you-maintain-it</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err="1">
                <a:latin typeface="Calibri" panose="020F0502020204030204" pitchFamily="34" charset="0"/>
                <a:ea typeface="Calibri" panose="020F0502020204030204" pitchFamily="34" charset="0"/>
                <a:cs typeface="Calibri" panose="020F0502020204030204" pitchFamily="34" charset="0"/>
              </a:rPr>
              <a:t>FireHydrant</a:t>
            </a:r>
            <a:r>
              <a:rPr lang="en-US" dirty="0">
                <a:latin typeface="Calibri" panose="020F0502020204030204" pitchFamily="34" charset="0"/>
                <a:ea typeface="Calibri" panose="020F0502020204030204" pitchFamily="34" charset="0"/>
                <a:cs typeface="Calibri" panose="020F0502020204030204" pitchFamily="34" charset="0"/>
              </a:rPr>
              <a:t>. (2024). “Best Practices for Creating On-Call Rotations and Schedules.” </a:t>
            </a:r>
            <a:r>
              <a:rPr lang="en-US" i="1" dirty="0" err="1">
                <a:latin typeface="Calibri" panose="020F0502020204030204" pitchFamily="34" charset="0"/>
                <a:ea typeface="Calibri" panose="020F0502020204030204" pitchFamily="34" charset="0"/>
                <a:cs typeface="Calibri" panose="020F0502020204030204" pitchFamily="34" charset="0"/>
              </a:rPr>
              <a:t>FireHydrant</a:t>
            </a:r>
            <a:r>
              <a:rPr lang="en-US" dirty="0">
                <a:latin typeface="Calibri" panose="020F0502020204030204" pitchFamily="34" charset="0"/>
                <a:ea typeface="Calibri" panose="020F0502020204030204" pitchFamily="34" charset="0"/>
                <a:cs typeface="Calibri" panose="020F0502020204030204" pitchFamily="34" charset="0"/>
              </a:rPr>
              <a:t>. Retrieved from </a:t>
            </a:r>
            <a:r>
              <a:rPr lang="en-US" dirty="0">
                <a:latin typeface="Calibri" panose="020F0502020204030204" pitchFamily="34" charset="0"/>
                <a:ea typeface="Calibri" panose="020F0502020204030204" pitchFamily="34" charset="0"/>
                <a:cs typeface="Calibri" panose="020F0502020204030204" pitchFamily="34" charset="0"/>
                <a:hlinkClick r:id="rId3"/>
              </a:rPr>
              <a:t>https://firehydrant.com/blog/best-practices-for-creating-on-call-rotations-and-schedules/</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Kim, G., Humble, j., Debois, P., &amp; Willis, J. (2021). The DevOps Handbook, Second Edition. Portland, OR: IT Revolution.</a:t>
            </a:r>
          </a:p>
        </p:txBody>
      </p:sp>
    </p:spTree>
    <p:extLst>
      <p:ext uri="{BB962C8B-B14F-4D97-AF65-F5344CB8AC3E}">
        <p14:creationId xmlns:p14="http://schemas.microsoft.com/office/powerpoint/2010/main" val="11958467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966</Words>
  <Application>Microsoft Office PowerPoint</Application>
  <PresentationFormat>Widescreen</PresentationFormat>
  <Paragraphs>45</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Pager Rotation Best Practices</vt:lpstr>
      <vt:lpstr>What is Pager Rotation?</vt:lpstr>
      <vt:lpstr>Developers on Pager Rotation</vt:lpstr>
      <vt:lpstr>Creating a Pager Rotation Schedule</vt:lpstr>
      <vt:lpstr>Communication</vt:lpstr>
      <vt:lpstr>Reducing the Number of Alerts</vt:lpstr>
      <vt:lpstr>Other Best Practices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preller</dc:creator>
  <cp:lastModifiedBy>daniel preller</cp:lastModifiedBy>
  <cp:revision>4</cp:revision>
  <dcterms:created xsi:type="dcterms:W3CDTF">2026-02-04T18:57:34Z</dcterms:created>
  <dcterms:modified xsi:type="dcterms:W3CDTF">2026-02-04T19:54:46Z</dcterms:modified>
</cp:coreProperties>
</file>
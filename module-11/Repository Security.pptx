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2" r:id="rId5"/>
    <p:sldId id="261" r:id="rId6"/>
    <p:sldId id="259" r:id="rId7"/>
    <p:sldId id="260" r:id="rId8"/>
    <p:sldId id="258"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802C"/>
    <a:srgbClr val="229232"/>
    <a:srgbClr val="FC2476"/>
    <a:srgbClr val="F292E4"/>
    <a:srgbClr val="EE6CDB"/>
    <a:srgbClr val="E735CE"/>
    <a:srgbClr val="8B4DCF"/>
    <a:srgbClr val="DB0355"/>
    <a:srgbClr val="A97BDB"/>
    <a:srgbClr val="EE00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50" d="100"/>
          <a:sy n="150" d="100"/>
        </p:scale>
        <p:origin x="62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BCF8C6-C477-4EB2-9FD5-2717778F28A9}"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161B9BDC-FA36-44DD-9D9A-E0634063D4CF}">
      <dgm:prSet phldrT="[Text]" phldr="0"/>
      <dgm:spPr>
        <a:solidFill>
          <a:srgbClr val="1E802C"/>
        </a:solidFill>
        <a:ln>
          <a:solidFill>
            <a:schemeClr val="tx2"/>
          </a:solidFill>
        </a:ln>
      </dgm:spPr>
      <dgm:t>
        <a:bodyPr/>
        <a:lstStyle/>
        <a:p>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Choose a secure repository</a:t>
          </a:r>
        </a:p>
      </dgm:t>
    </dgm:pt>
    <dgm:pt modelId="{1FA4BEF2-9541-4F97-9DA2-D8C67DA22E3E}" type="parTrans" cxnId="{9B27599D-C56B-427F-A67A-ADCB0FB128FE}">
      <dgm:prSet/>
      <dgm:spPr/>
      <dgm:t>
        <a:bodyPr/>
        <a:lstStyle/>
        <a:p>
          <a:endParaRPr lang="en-US"/>
        </a:p>
      </dgm:t>
    </dgm:pt>
    <dgm:pt modelId="{B190A6EF-2650-4D81-812D-B93BDCB89ACC}" type="sibTrans" cxnId="{9B27599D-C56B-427F-A67A-ADCB0FB128FE}">
      <dgm:prSet/>
      <dgm:spPr/>
      <dgm:t>
        <a:bodyPr/>
        <a:lstStyle/>
        <a:p>
          <a:endParaRPr lang="en-US"/>
        </a:p>
      </dgm:t>
    </dgm:pt>
    <dgm:pt modelId="{CDCC7428-CEF3-465D-935C-5E12411C3B24}">
      <dgm:prSet phldrT="[Text]" phldr="0"/>
      <dgm:spPr>
        <a:ln>
          <a:solidFill>
            <a:schemeClr val="tx2"/>
          </a:solidFill>
        </a:ln>
      </dgm:spPr>
      <dgm:t>
        <a:bodyPr/>
        <a:lstStyle/>
        <a:p>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Separate secrets from code</a:t>
          </a:r>
        </a:p>
      </dgm:t>
    </dgm:pt>
    <dgm:pt modelId="{9FA4691D-4190-4FC2-BFBD-5B6C13851CCC}" type="parTrans" cxnId="{376E9AD9-F86F-40C2-8456-0186E0200CDF}">
      <dgm:prSet/>
      <dgm:spPr/>
      <dgm:t>
        <a:bodyPr/>
        <a:lstStyle/>
        <a:p>
          <a:endParaRPr lang="en-US"/>
        </a:p>
      </dgm:t>
    </dgm:pt>
    <dgm:pt modelId="{D3827CA7-4312-4D0D-9F39-21337FA2D3A0}" type="sibTrans" cxnId="{376E9AD9-F86F-40C2-8456-0186E0200CDF}">
      <dgm:prSet/>
      <dgm:spPr/>
      <dgm:t>
        <a:bodyPr/>
        <a:lstStyle/>
        <a:p>
          <a:endParaRPr lang="en-US"/>
        </a:p>
      </dgm:t>
    </dgm:pt>
    <dgm:pt modelId="{13131F4A-5252-4324-8EBB-EC19021ACA02}">
      <dgm:prSet phldrT="[Text]" phldr="0"/>
      <dgm:spPr>
        <a:ln>
          <a:solidFill>
            <a:schemeClr val="tx2"/>
          </a:solidFill>
        </a:ln>
      </dgm:spPr>
      <dgm:t>
        <a:bodyPr/>
        <a:lstStyle/>
        <a:p>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Limit repository access</a:t>
          </a:r>
        </a:p>
      </dgm:t>
    </dgm:pt>
    <dgm:pt modelId="{65AB809B-65B8-4455-B780-5B43B6EE9E9E}" type="parTrans" cxnId="{65794FAB-6353-490F-AA3A-CE9DB6DC1527}">
      <dgm:prSet/>
      <dgm:spPr/>
      <dgm:t>
        <a:bodyPr/>
        <a:lstStyle/>
        <a:p>
          <a:endParaRPr lang="en-US"/>
        </a:p>
      </dgm:t>
    </dgm:pt>
    <dgm:pt modelId="{6020E8C6-0D18-4B44-80E0-0D466F0E0348}" type="sibTrans" cxnId="{65794FAB-6353-490F-AA3A-CE9DB6DC1527}">
      <dgm:prSet/>
      <dgm:spPr/>
      <dgm:t>
        <a:bodyPr/>
        <a:lstStyle/>
        <a:p>
          <a:endParaRPr lang="en-US"/>
        </a:p>
      </dgm:t>
    </dgm:pt>
    <dgm:pt modelId="{48010F9E-839F-4F72-B355-08023A64430A}" type="pres">
      <dgm:prSet presAssocID="{31BCF8C6-C477-4EB2-9FD5-2717778F28A9}" presName="diagram" presStyleCnt="0">
        <dgm:presLayoutVars>
          <dgm:dir/>
          <dgm:resizeHandles val="exact"/>
        </dgm:presLayoutVars>
      </dgm:prSet>
      <dgm:spPr/>
    </dgm:pt>
    <dgm:pt modelId="{81FB1DBA-0FBB-4F14-A3F1-E21A8ED88C13}" type="pres">
      <dgm:prSet presAssocID="{161B9BDC-FA36-44DD-9D9A-E0634063D4CF}" presName="node" presStyleLbl="node1" presStyleIdx="0" presStyleCnt="3">
        <dgm:presLayoutVars>
          <dgm:bulletEnabled val="1"/>
        </dgm:presLayoutVars>
      </dgm:prSet>
      <dgm:spPr/>
    </dgm:pt>
    <dgm:pt modelId="{7277C883-3A4F-42CE-BC86-8061D089E8CB}" type="pres">
      <dgm:prSet presAssocID="{B190A6EF-2650-4D81-812D-B93BDCB89ACC}" presName="sibTrans" presStyleCnt="0"/>
      <dgm:spPr/>
    </dgm:pt>
    <dgm:pt modelId="{F93B809D-E39B-492B-A773-4F26615DBC87}" type="pres">
      <dgm:prSet presAssocID="{CDCC7428-CEF3-465D-935C-5E12411C3B24}" presName="node" presStyleLbl="node1" presStyleIdx="1" presStyleCnt="3">
        <dgm:presLayoutVars>
          <dgm:bulletEnabled val="1"/>
        </dgm:presLayoutVars>
      </dgm:prSet>
      <dgm:spPr/>
    </dgm:pt>
    <dgm:pt modelId="{22EBE9AC-64A3-4070-B087-6CB2D0CDC0EB}" type="pres">
      <dgm:prSet presAssocID="{D3827CA7-4312-4D0D-9F39-21337FA2D3A0}" presName="sibTrans" presStyleCnt="0"/>
      <dgm:spPr/>
    </dgm:pt>
    <dgm:pt modelId="{DC2083F6-CA0D-41C5-A7EA-FC20AA44FF57}" type="pres">
      <dgm:prSet presAssocID="{13131F4A-5252-4324-8EBB-EC19021ACA02}" presName="node" presStyleLbl="node1" presStyleIdx="2" presStyleCnt="3">
        <dgm:presLayoutVars>
          <dgm:bulletEnabled val="1"/>
        </dgm:presLayoutVars>
      </dgm:prSet>
      <dgm:spPr/>
    </dgm:pt>
  </dgm:ptLst>
  <dgm:cxnLst>
    <dgm:cxn modelId="{5943D10D-96AB-4996-981E-AAAEB7DFE810}" type="presOf" srcId="{CDCC7428-CEF3-465D-935C-5E12411C3B24}" destId="{F93B809D-E39B-492B-A773-4F26615DBC87}" srcOrd="0" destOrd="0" presId="urn:microsoft.com/office/officeart/2005/8/layout/default"/>
    <dgm:cxn modelId="{561DF724-508E-4679-B7EB-9F48B3E434A1}" type="presOf" srcId="{13131F4A-5252-4324-8EBB-EC19021ACA02}" destId="{DC2083F6-CA0D-41C5-A7EA-FC20AA44FF57}" srcOrd="0" destOrd="0" presId="urn:microsoft.com/office/officeart/2005/8/layout/default"/>
    <dgm:cxn modelId="{FBC4B354-88C8-448E-AA27-13497FE60F7A}" type="presOf" srcId="{161B9BDC-FA36-44DD-9D9A-E0634063D4CF}" destId="{81FB1DBA-0FBB-4F14-A3F1-E21A8ED88C13}" srcOrd="0" destOrd="0" presId="urn:microsoft.com/office/officeart/2005/8/layout/default"/>
    <dgm:cxn modelId="{E0520F8D-6586-437E-9E9C-6AF1F94D8B3C}" type="presOf" srcId="{31BCF8C6-C477-4EB2-9FD5-2717778F28A9}" destId="{48010F9E-839F-4F72-B355-08023A64430A}" srcOrd="0" destOrd="0" presId="urn:microsoft.com/office/officeart/2005/8/layout/default"/>
    <dgm:cxn modelId="{9B27599D-C56B-427F-A67A-ADCB0FB128FE}" srcId="{31BCF8C6-C477-4EB2-9FD5-2717778F28A9}" destId="{161B9BDC-FA36-44DD-9D9A-E0634063D4CF}" srcOrd="0" destOrd="0" parTransId="{1FA4BEF2-9541-4F97-9DA2-D8C67DA22E3E}" sibTransId="{B190A6EF-2650-4D81-812D-B93BDCB89ACC}"/>
    <dgm:cxn modelId="{65794FAB-6353-490F-AA3A-CE9DB6DC1527}" srcId="{31BCF8C6-C477-4EB2-9FD5-2717778F28A9}" destId="{13131F4A-5252-4324-8EBB-EC19021ACA02}" srcOrd="2" destOrd="0" parTransId="{65AB809B-65B8-4455-B780-5B43B6EE9E9E}" sibTransId="{6020E8C6-0D18-4B44-80E0-0D466F0E0348}"/>
    <dgm:cxn modelId="{376E9AD9-F86F-40C2-8456-0186E0200CDF}" srcId="{31BCF8C6-C477-4EB2-9FD5-2717778F28A9}" destId="{CDCC7428-CEF3-465D-935C-5E12411C3B24}" srcOrd="1" destOrd="0" parTransId="{9FA4691D-4190-4FC2-BFBD-5B6C13851CCC}" sibTransId="{D3827CA7-4312-4D0D-9F39-21337FA2D3A0}"/>
    <dgm:cxn modelId="{4CAA87FF-9020-4D8E-A725-C833365F7E49}" type="presParOf" srcId="{48010F9E-839F-4F72-B355-08023A64430A}" destId="{81FB1DBA-0FBB-4F14-A3F1-E21A8ED88C13}" srcOrd="0" destOrd="0" presId="urn:microsoft.com/office/officeart/2005/8/layout/default"/>
    <dgm:cxn modelId="{8C90C523-F55C-4C7B-B1A8-52F552BBBA67}" type="presParOf" srcId="{48010F9E-839F-4F72-B355-08023A64430A}" destId="{7277C883-3A4F-42CE-BC86-8061D089E8CB}" srcOrd="1" destOrd="0" presId="urn:microsoft.com/office/officeart/2005/8/layout/default"/>
    <dgm:cxn modelId="{53467BA1-143B-47C5-8000-065167543BE0}" type="presParOf" srcId="{48010F9E-839F-4F72-B355-08023A64430A}" destId="{F93B809D-E39B-492B-A773-4F26615DBC87}" srcOrd="2" destOrd="0" presId="urn:microsoft.com/office/officeart/2005/8/layout/default"/>
    <dgm:cxn modelId="{EEA54584-67D6-422C-A34B-079F9E5D8781}" type="presParOf" srcId="{48010F9E-839F-4F72-B355-08023A64430A}" destId="{22EBE9AC-64A3-4070-B087-6CB2D0CDC0EB}" srcOrd="3" destOrd="0" presId="urn:microsoft.com/office/officeart/2005/8/layout/default"/>
    <dgm:cxn modelId="{9E3BE9F1-4A54-4DEE-BEE9-4925BAD7BC7E}" type="presParOf" srcId="{48010F9E-839F-4F72-B355-08023A64430A}" destId="{DC2083F6-CA0D-41C5-A7EA-FC20AA44FF57}" srcOrd="4" destOrd="0" presId="urn:microsoft.com/office/officeart/2005/8/layout/default"/>
  </dgm:cxnLst>
  <dgm:bg>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FB1DBA-0FBB-4F14-A3F1-E21A8ED88C13}">
      <dsp:nvSpPr>
        <dsp:cNvPr id="0" name=""/>
        <dsp:cNvSpPr/>
      </dsp:nvSpPr>
      <dsp:spPr>
        <a:xfrm>
          <a:off x="1748064" y="2975"/>
          <a:ext cx="3342605" cy="2005563"/>
        </a:xfrm>
        <a:prstGeom prst="rect">
          <a:avLst/>
        </a:prstGeom>
        <a:solidFill>
          <a:srgbClr val="1E802C"/>
        </a:solidFill>
        <a:ln w="19050" cap="flat" cmpd="sng" algn="ctr">
          <a:solidFill>
            <a:schemeClr val="tx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chemeClr val="tx1"/>
              </a:solidFill>
              <a:latin typeface="Calibri" panose="020F0502020204030204" pitchFamily="34" charset="0"/>
              <a:ea typeface="Calibri" panose="020F0502020204030204" pitchFamily="34" charset="0"/>
              <a:cs typeface="Calibri" panose="020F0502020204030204" pitchFamily="34" charset="0"/>
            </a:rPr>
            <a:t>Choose a secure repository</a:t>
          </a:r>
        </a:p>
      </dsp:txBody>
      <dsp:txXfrm>
        <a:off x="1748064" y="2975"/>
        <a:ext cx="3342605" cy="2005563"/>
      </dsp:txXfrm>
    </dsp:sp>
    <dsp:sp modelId="{F93B809D-E39B-492B-A773-4F26615DBC87}">
      <dsp:nvSpPr>
        <dsp:cNvPr id="0" name=""/>
        <dsp:cNvSpPr/>
      </dsp:nvSpPr>
      <dsp:spPr>
        <a:xfrm>
          <a:off x="5424930" y="2975"/>
          <a:ext cx="3342605" cy="2005563"/>
        </a:xfrm>
        <a:prstGeom prst="rect">
          <a:avLst/>
        </a:prstGeom>
        <a:solidFill>
          <a:schemeClr val="accent3">
            <a:hueOff val="2058582"/>
            <a:satOff val="12356"/>
            <a:lumOff val="9413"/>
            <a:alphaOff val="0"/>
          </a:schemeClr>
        </a:solidFill>
        <a:ln w="19050" cap="flat" cmpd="sng" algn="ctr">
          <a:solidFill>
            <a:schemeClr val="tx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chemeClr val="tx1"/>
              </a:solidFill>
              <a:latin typeface="Calibri" panose="020F0502020204030204" pitchFamily="34" charset="0"/>
              <a:ea typeface="Calibri" panose="020F0502020204030204" pitchFamily="34" charset="0"/>
              <a:cs typeface="Calibri" panose="020F0502020204030204" pitchFamily="34" charset="0"/>
            </a:rPr>
            <a:t>Separate secrets from code</a:t>
          </a:r>
        </a:p>
      </dsp:txBody>
      <dsp:txXfrm>
        <a:off x="5424930" y="2975"/>
        <a:ext cx="3342605" cy="2005563"/>
      </dsp:txXfrm>
    </dsp:sp>
    <dsp:sp modelId="{DC2083F6-CA0D-41C5-A7EA-FC20AA44FF57}">
      <dsp:nvSpPr>
        <dsp:cNvPr id="0" name=""/>
        <dsp:cNvSpPr/>
      </dsp:nvSpPr>
      <dsp:spPr>
        <a:xfrm>
          <a:off x="3586497" y="2342799"/>
          <a:ext cx="3342605" cy="2005563"/>
        </a:xfrm>
        <a:prstGeom prst="rect">
          <a:avLst/>
        </a:prstGeom>
        <a:solidFill>
          <a:schemeClr val="accent3">
            <a:hueOff val="4117163"/>
            <a:satOff val="24712"/>
            <a:lumOff val="18825"/>
            <a:alphaOff val="0"/>
          </a:schemeClr>
        </a:solidFill>
        <a:ln w="19050" cap="flat" cmpd="sng" algn="ctr">
          <a:solidFill>
            <a:schemeClr val="tx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chemeClr val="tx1"/>
              </a:solidFill>
              <a:latin typeface="Calibri" panose="020F0502020204030204" pitchFamily="34" charset="0"/>
              <a:ea typeface="Calibri" panose="020F0502020204030204" pitchFamily="34" charset="0"/>
              <a:cs typeface="Calibri" panose="020F0502020204030204" pitchFamily="34" charset="0"/>
            </a:rPr>
            <a:t>Limit repository access</a:t>
          </a:r>
        </a:p>
      </dsp:txBody>
      <dsp:txXfrm>
        <a:off x="3586497" y="2342799"/>
        <a:ext cx="3342605" cy="200556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DBEF5-7A21-6F4C-DCE1-5591AB5974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AED71D-0F24-4848-4EFD-562DCC79D0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61801D-F4F6-F02C-A46A-0BE958297064}"/>
              </a:ext>
            </a:extLst>
          </p:cNvPr>
          <p:cNvSpPr>
            <a:spLocks noGrp="1"/>
          </p:cNvSpPr>
          <p:nvPr>
            <p:ph type="dt" sz="half" idx="10"/>
          </p:nvPr>
        </p:nvSpPr>
        <p:spPr/>
        <p:txBody>
          <a:bodyPr/>
          <a:lstStyle/>
          <a:p>
            <a:fld id="{8B6E326B-65C5-4427-A27E-EF941B2628DA}" type="datetimeFigureOut">
              <a:rPr lang="en-US" smtClean="0"/>
              <a:t>2/25/2026</a:t>
            </a:fld>
            <a:endParaRPr lang="en-US"/>
          </a:p>
        </p:txBody>
      </p:sp>
      <p:sp>
        <p:nvSpPr>
          <p:cNvPr id="5" name="Footer Placeholder 4">
            <a:extLst>
              <a:ext uri="{FF2B5EF4-FFF2-40B4-BE49-F238E27FC236}">
                <a16:creationId xmlns:a16="http://schemas.microsoft.com/office/drawing/2014/main" id="{78A012D2-67C3-7748-25DA-EAEE2D1E9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47AF40-DD47-DE22-FB07-C68860369E34}"/>
              </a:ext>
            </a:extLst>
          </p:cNvPr>
          <p:cNvSpPr>
            <a:spLocks noGrp="1"/>
          </p:cNvSpPr>
          <p:nvPr>
            <p:ph type="sldNum" sz="quarter" idx="12"/>
          </p:nvPr>
        </p:nvSpPr>
        <p:spPr/>
        <p:txBody>
          <a:bodyPr/>
          <a:lstStyle/>
          <a:p>
            <a:fld id="{2FDAB96D-05E2-4736-851B-A79DB763C12C}" type="slidenum">
              <a:rPr lang="en-US" smtClean="0"/>
              <a:t>‹#›</a:t>
            </a:fld>
            <a:endParaRPr lang="en-US"/>
          </a:p>
        </p:txBody>
      </p:sp>
    </p:spTree>
    <p:extLst>
      <p:ext uri="{BB962C8B-B14F-4D97-AF65-F5344CB8AC3E}">
        <p14:creationId xmlns:p14="http://schemas.microsoft.com/office/powerpoint/2010/main" val="2676872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50596-5806-2D89-B80F-117BF151B6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79EDA6-16A8-5401-7B96-94B8F6FC46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E7C706-A95A-7855-07BF-E4C807715CA7}"/>
              </a:ext>
            </a:extLst>
          </p:cNvPr>
          <p:cNvSpPr>
            <a:spLocks noGrp="1"/>
          </p:cNvSpPr>
          <p:nvPr>
            <p:ph type="dt" sz="half" idx="10"/>
          </p:nvPr>
        </p:nvSpPr>
        <p:spPr/>
        <p:txBody>
          <a:bodyPr/>
          <a:lstStyle/>
          <a:p>
            <a:fld id="{8B6E326B-65C5-4427-A27E-EF941B2628DA}" type="datetimeFigureOut">
              <a:rPr lang="en-US" smtClean="0"/>
              <a:t>2/25/2026</a:t>
            </a:fld>
            <a:endParaRPr lang="en-US"/>
          </a:p>
        </p:txBody>
      </p:sp>
      <p:sp>
        <p:nvSpPr>
          <p:cNvPr id="5" name="Footer Placeholder 4">
            <a:extLst>
              <a:ext uri="{FF2B5EF4-FFF2-40B4-BE49-F238E27FC236}">
                <a16:creationId xmlns:a16="http://schemas.microsoft.com/office/drawing/2014/main" id="{99CAE8D8-93FF-9454-AF88-31F662B3E4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7BF837-894D-923D-5B75-6DD2875EE2C1}"/>
              </a:ext>
            </a:extLst>
          </p:cNvPr>
          <p:cNvSpPr>
            <a:spLocks noGrp="1"/>
          </p:cNvSpPr>
          <p:nvPr>
            <p:ph type="sldNum" sz="quarter" idx="12"/>
          </p:nvPr>
        </p:nvSpPr>
        <p:spPr/>
        <p:txBody>
          <a:bodyPr/>
          <a:lstStyle/>
          <a:p>
            <a:fld id="{2FDAB96D-05E2-4736-851B-A79DB763C12C}" type="slidenum">
              <a:rPr lang="en-US" smtClean="0"/>
              <a:t>‹#›</a:t>
            </a:fld>
            <a:endParaRPr lang="en-US"/>
          </a:p>
        </p:txBody>
      </p:sp>
    </p:spTree>
    <p:extLst>
      <p:ext uri="{BB962C8B-B14F-4D97-AF65-F5344CB8AC3E}">
        <p14:creationId xmlns:p14="http://schemas.microsoft.com/office/powerpoint/2010/main" val="3579047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24F6A-2286-A47E-F3DA-CD016F0214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DCC6F7-1974-E248-4C20-0B09D5E0635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CDBB3D-63B3-EAF6-8901-383DEDC314D2}"/>
              </a:ext>
            </a:extLst>
          </p:cNvPr>
          <p:cNvSpPr>
            <a:spLocks noGrp="1"/>
          </p:cNvSpPr>
          <p:nvPr>
            <p:ph type="dt" sz="half" idx="10"/>
          </p:nvPr>
        </p:nvSpPr>
        <p:spPr/>
        <p:txBody>
          <a:bodyPr/>
          <a:lstStyle/>
          <a:p>
            <a:fld id="{8B6E326B-65C5-4427-A27E-EF941B2628DA}" type="datetimeFigureOut">
              <a:rPr lang="en-US" smtClean="0"/>
              <a:t>2/25/2026</a:t>
            </a:fld>
            <a:endParaRPr lang="en-US"/>
          </a:p>
        </p:txBody>
      </p:sp>
      <p:sp>
        <p:nvSpPr>
          <p:cNvPr id="5" name="Footer Placeholder 4">
            <a:extLst>
              <a:ext uri="{FF2B5EF4-FFF2-40B4-BE49-F238E27FC236}">
                <a16:creationId xmlns:a16="http://schemas.microsoft.com/office/drawing/2014/main" id="{8076CD57-8443-813F-029F-215B46FC43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3CFEF5-BC59-52BD-99AD-C0F316778AF8}"/>
              </a:ext>
            </a:extLst>
          </p:cNvPr>
          <p:cNvSpPr>
            <a:spLocks noGrp="1"/>
          </p:cNvSpPr>
          <p:nvPr>
            <p:ph type="sldNum" sz="quarter" idx="12"/>
          </p:nvPr>
        </p:nvSpPr>
        <p:spPr/>
        <p:txBody>
          <a:bodyPr/>
          <a:lstStyle/>
          <a:p>
            <a:fld id="{2FDAB96D-05E2-4736-851B-A79DB763C12C}" type="slidenum">
              <a:rPr lang="en-US" smtClean="0"/>
              <a:t>‹#›</a:t>
            </a:fld>
            <a:endParaRPr lang="en-US"/>
          </a:p>
        </p:txBody>
      </p:sp>
    </p:spTree>
    <p:extLst>
      <p:ext uri="{BB962C8B-B14F-4D97-AF65-F5344CB8AC3E}">
        <p14:creationId xmlns:p14="http://schemas.microsoft.com/office/powerpoint/2010/main" val="1242244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42AB4-1774-F2B4-6852-6F9A95DAAF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3DA349-64E9-3812-B951-F0AB6A487A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7941A5-D9CF-4619-CCE4-3A9599F6D6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38171A-21DA-4918-DBFB-9D10C91CA79E}"/>
              </a:ext>
            </a:extLst>
          </p:cNvPr>
          <p:cNvSpPr>
            <a:spLocks noGrp="1"/>
          </p:cNvSpPr>
          <p:nvPr>
            <p:ph type="dt" sz="half" idx="10"/>
          </p:nvPr>
        </p:nvSpPr>
        <p:spPr/>
        <p:txBody>
          <a:bodyPr/>
          <a:lstStyle/>
          <a:p>
            <a:fld id="{8B6E326B-65C5-4427-A27E-EF941B2628DA}" type="datetimeFigureOut">
              <a:rPr lang="en-US" smtClean="0"/>
              <a:t>2/25/2026</a:t>
            </a:fld>
            <a:endParaRPr lang="en-US"/>
          </a:p>
        </p:txBody>
      </p:sp>
      <p:sp>
        <p:nvSpPr>
          <p:cNvPr id="6" name="Footer Placeholder 5">
            <a:extLst>
              <a:ext uri="{FF2B5EF4-FFF2-40B4-BE49-F238E27FC236}">
                <a16:creationId xmlns:a16="http://schemas.microsoft.com/office/drawing/2014/main" id="{C823E2C3-21CA-2B97-7880-2225F66821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00B352-79AC-6738-9CEC-C5A774D54C55}"/>
              </a:ext>
            </a:extLst>
          </p:cNvPr>
          <p:cNvSpPr>
            <a:spLocks noGrp="1"/>
          </p:cNvSpPr>
          <p:nvPr>
            <p:ph type="sldNum" sz="quarter" idx="12"/>
          </p:nvPr>
        </p:nvSpPr>
        <p:spPr/>
        <p:txBody>
          <a:bodyPr/>
          <a:lstStyle/>
          <a:p>
            <a:fld id="{2FDAB96D-05E2-4736-851B-A79DB763C12C}" type="slidenum">
              <a:rPr lang="en-US" smtClean="0"/>
              <a:t>‹#›</a:t>
            </a:fld>
            <a:endParaRPr lang="en-US"/>
          </a:p>
        </p:txBody>
      </p:sp>
    </p:spTree>
    <p:extLst>
      <p:ext uri="{BB962C8B-B14F-4D97-AF65-F5344CB8AC3E}">
        <p14:creationId xmlns:p14="http://schemas.microsoft.com/office/powerpoint/2010/main" val="519933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BF746-995A-FE0A-A542-9F75A35E7A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6D52DA-9403-0D66-C50B-C6D01CA143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5C5620-684B-ADDF-1428-938282E4C8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DC1F7A-3BF9-5F2A-8ACA-E0DAE8BCC8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441971-1EAE-EEBE-7383-48FDA581F0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C6852B-9F9F-A60F-92B6-537A1FD0084D}"/>
              </a:ext>
            </a:extLst>
          </p:cNvPr>
          <p:cNvSpPr>
            <a:spLocks noGrp="1"/>
          </p:cNvSpPr>
          <p:nvPr>
            <p:ph type="dt" sz="half" idx="10"/>
          </p:nvPr>
        </p:nvSpPr>
        <p:spPr/>
        <p:txBody>
          <a:bodyPr/>
          <a:lstStyle/>
          <a:p>
            <a:fld id="{8B6E326B-65C5-4427-A27E-EF941B2628DA}" type="datetimeFigureOut">
              <a:rPr lang="en-US" smtClean="0"/>
              <a:t>2/25/2026</a:t>
            </a:fld>
            <a:endParaRPr lang="en-US"/>
          </a:p>
        </p:txBody>
      </p:sp>
      <p:sp>
        <p:nvSpPr>
          <p:cNvPr id="8" name="Footer Placeholder 7">
            <a:extLst>
              <a:ext uri="{FF2B5EF4-FFF2-40B4-BE49-F238E27FC236}">
                <a16:creationId xmlns:a16="http://schemas.microsoft.com/office/drawing/2014/main" id="{CBA0E5B6-B92A-42E3-F6FF-E1320244CC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6493D0-9B4B-40C4-6931-DAFBAD6E4F6E}"/>
              </a:ext>
            </a:extLst>
          </p:cNvPr>
          <p:cNvSpPr>
            <a:spLocks noGrp="1"/>
          </p:cNvSpPr>
          <p:nvPr>
            <p:ph type="sldNum" sz="quarter" idx="12"/>
          </p:nvPr>
        </p:nvSpPr>
        <p:spPr/>
        <p:txBody>
          <a:bodyPr/>
          <a:lstStyle/>
          <a:p>
            <a:fld id="{2FDAB96D-05E2-4736-851B-A79DB763C12C}" type="slidenum">
              <a:rPr lang="en-US" smtClean="0"/>
              <a:t>‹#›</a:t>
            </a:fld>
            <a:endParaRPr lang="en-US"/>
          </a:p>
        </p:txBody>
      </p:sp>
    </p:spTree>
    <p:extLst>
      <p:ext uri="{BB962C8B-B14F-4D97-AF65-F5344CB8AC3E}">
        <p14:creationId xmlns:p14="http://schemas.microsoft.com/office/powerpoint/2010/main" val="626492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27F0B-78D5-1AD8-552A-A48E6F0BE2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15D050-C469-EDE6-8E19-D449BB5DDFDF}"/>
              </a:ext>
            </a:extLst>
          </p:cNvPr>
          <p:cNvSpPr>
            <a:spLocks noGrp="1"/>
          </p:cNvSpPr>
          <p:nvPr>
            <p:ph type="dt" sz="half" idx="10"/>
          </p:nvPr>
        </p:nvSpPr>
        <p:spPr/>
        <p:txBody>
          <a:bodyPr/>
          <a:lstStyle/>
          <a:p>
            <a:fld id="{8B6E326B-65C5-4427-A27E-EF941B2628DA}" type="datetimeFigureOut">
              <a:rPr lang="en-US" smtClean="0"/>
              <a:t>2/25/2026</a:t>
            </a:fld>
            <a:endParaRPr lang="en-US"/>
          </a:p>
        </p:txBody>
      </p:sp>
      <p:sp>
        <p:nvSpPr>
          <p:cNvPr id="4" name="Footer Placeholder 3">
            <a:extLst>
              <a:ext uri="{FF2B5EF4-FFF2-40B4-BE49-F238E27FC236}">
                <a16:creationId xmlns:a16="http://schemas.microsoft.com/office/drawing/2014/main" id="{AE245971-26CD-41BA-993E-590311056B3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C48026-296E-92CB-78E0-A10C482B294A}"/>
              </a:ext>
            </a:extLst>
          </p:cNvPr>
          <p:cNvSpPr>
            <a:spLocks noGrp="1"/>
          </p:cNvSpPr>
          <p:nvPr>
            <p:ph type="sldNum" sz="quarter" idx="12"/>
          </p:nvPr>
        </p:nvSpPr>
        <p:spPr/>
        <p:txBody>
          <a:bodyPr/>
          <a:lstStyle/>
          <a:p>
            <a:fld id="{2FDAB96D-05E2-4736-851B-A79DB763C12C}" type="slidenum">
              <a:rPr lang="en-US" smtClean="0"/>
              <a:t>‹#›</a:t>
            </a:fld>
            <a:endParaRPr lang="en-US"/>
          </a:p>
        </p:txBody>
      </p:sp>
    </p:spTree>
    <p:extLst>
      <p:ext uri="{BB962C8B-B14F-4D97-AF65-F5344CB8AC3E}">
        <p14:creationId xmlns:p14="http://schemas.microsoft.com/office/powerpoint/2010/main" val="455805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687F4E-B11E-5B97-CA11-2362BE61D1BF}"/>
              </a:ext>
            </a:extLst>
          </p:cNvPr>
          <p:cNvSpPr>
            <a:spLocks noGrp="1"/>
          </p:cNvSpPr>
          <p:nvPr>
            <p:ph type="dt" sz="half" idx="10"/>
          </p:nvPr>
        </p:nvSpPr>
        <p:spPr/>
        <p:txBody>
          <a:bodyPr/>
          <a:lstStyle/>
          <a:p>
            <a:fld id="{8B6E326B-65C5-4427-A27E-EF941B2628DA}" type="datetimeFigureOut">
              <a:rPr lang="en-US" smtClean="0"/>
              <a:t>2/25/2026</a:t>
            </a:fld>
            <a:endParaRPr lang="en-US"/>
          </a:p>
        </p:txBody>
      </p:sp>
      <p:sp>
        <p:nvSpPr>
          <p:cNvPr id="3" name="Footer Placeholder 2">
            <a:extLst>
              <a:ext uri="{FF2B5EF4-FFF2-40B4-BE49-F238E27FC236}">
                <a16:creationId xmlns:a16="http://schemas.microsoft.com/office/drawing/2014/main" id="{606209A6-7023-A418-2311-EF57030A45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B38E1B-AD06-2D38-6EBE-D683A9FA3E77}"/>
              </a:ext>
            </a:extLst>
          </p:cNvPr>
          <p:cNvSpPr>
            <a:spLocks noGrp="1"/>
          </p:cNvSpPr>
          <p:nvPr>
            <p:ph type="sldNum" sz="quarter" idx="12"/>
          </p:nvPr>
        </p:nvSpPr>
        <p:spPr/>
        <p:txBody>
          <a:bodyPr/>
          <a:lstStyle/>
          <a:p>
            <a:fld id="{2FDAB96D-05E2-4736-851B-A79DB763C12C}" type="slidenum">
              <a:rPr lang="en-US" smtClean="0"/>
              <a:t>‹#›</a:t>
            </a:fld>
            <a:endParaRPr lang="en-US"/>
          </a:p>
        </p:txBody>
      </p:sp>
    </p:spTree>
    <p:extLst>
      <p:ext uri="{BB962C8B-B14F-4D97-AF65-F5344CB8AC3E}">
        <p14:creationId xmlns:p14="http://schemas.microsoft.com/office/powerpoint/2010/main" val="2358824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E8956-D5D4-BC87-9152-09A35CC7E4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327508-4213-8DBF-50D9-0938B255F3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D5F2B8-1410-AC4D-ACED-5A93F138CB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62790F-883E-0F09-23D2-3399851FAFDC}"/>
              </a:ext>
            </a:extLst>
          </p:cNvPr>
          <p:cNvSpPr>
            <a:spLocks noGrp="1"/>
          </p:cNvSpPr>
          <p:nvPr>
            <p:ph type="dt" sz="half" idx="10"/>
          </p:nvPr>
        </p:nvSpPr>
        <p:spPr/>
        <p:txBody>
          <a:bodyPr/>
          <a:lstStyle/>
          <a:p>
            <a:fld id="{8B6E326B-65C5-4427-A27E-EF941B2628DA}" type="datetimeFigureOut">
              <a:rPr lang="en-US" smtClean="0"/>
              <a:t>2/25/2026</a:t>
            </a:fld>
            <a:endParaRPr lang="en-US"/>
          </a:p>
        </p:txBody>
      </p:sp>
      <p:sp>
        <p:nvSpPr>
          <p:cNvPr id="6" name="Footer Placeholder 5">
            <a:extLst>
              <a:ext uri="{FF2B5EF4-FFF2-40B4-BE49-F238E27FC236}">
                <a16:creationId xmlns:a16="http://schemas.microsoft.com/office/drawing/2014/main" id="{53DE15A5-7335-F3B9-CD86-1FD76F554A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F52604-575C-1D73-B3A9-DF759CA2EB5E}"/>
              </a:ext>
            </a:extLst>
          </p:cNvPr>
          <p:cNvSpPr>
            <a:spLocks noGrp="1"/>
          </p:cNvSpPr>
          <p:nvPr>
            <p:ph type="sldNum" sz="quarter" idx="12"/>
          </p:nvPr>
        </p:nvSpPr>
        <p:spPr/>
        <p:txBody>
          <a:bodyPr/>
          <a:lstStyle/>
          <a:p>
            <a:fld id="{2FDAB96D-05E2-4736-851B-A79DB763C12C}" type="slidenum">
              <a:rPr lang="en-US" smtClean="0"/>
              <a:t>‹#›</a:t>
            </a:fld>
            <a:endParaRPr lang="en-US"/>
          </a:p>
        </p:txBody>
      </p:sp>
    </p:spTree>
    <p:extLst>
      <p:ext uri="{BB962C8B-B14F-4D97-AF65-F5344CB8AC3E}">
        <p14:creationId xmlns:p14="http://schemas.microsoft.com/office/powerpoint/2010/main" val="799447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E7AD6-9586-6144-FDEA-723653061E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6604E7-2C6E-8635-A044-41B73F659C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C95EC1-1F19-78CB-B459-93FB40205E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184661-59E5-3221-52A2-59E9C2F505EF}"/>
              </a:ext>
            </a:extLst>
          </p:cNvPr>
          <p:cNvSpPr>
            <a:spLocks noGrp="1"/>
          </p:cNvSpPr>
          <p:nvPr>
            <p:ph type="dt" sz="half" idx="10"/>
          </p:nvPr>
        </p:nvSpPr>
        <p:spPr/>
        <p:txBody>
          <a:bodyPr/>
          <a:lstStyle/>
          <a:p>
            <a:fld id="{8B6E326B-65C5-4427-A27E-EF941B2628DA}" type="datetimeFigureOut">
              <a:rPr lang="en-US" smtClean="0"/>
              <a:t>2/25/2026</a:t>
            </a:fld>
            <a:endParaRPr lang="en-US"/>
          </a:p>
        </p:txBody>
      </p:sp>
      <p:sp>
        <p:nvSpPr>
          <p:cNvPr id="6" name="Footer Placeholder 5">
            <a:extLst>
              <a:ext uri="{FF2B5EF4-FFF2-40B4-BE49-F238E27FC236}">
                <a16:creationId xmlns:a16="http://schemas.microsoft.com/office/drawing/2014/main" id="{3B7AC5D5-2AED-A6DE-BF86-1FC02251C8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A58D4A-B528-A5F3-8FDF-A0CDC63854CC}"/>
              </a:ext>
            </a:extLst>
          </p:cNvPr>
          <p:cNvSpPr>
            <a:spLocks noGrp="1"/>
          </p:cNvSpPr>
          <p:nvPr>
            <p:ph type="sldNum" sz="quarter" idx="12"/>
          </p:nvPr>
        </p:nvSpPr>
        <p:spPr/>
        <p:txBody>
          <a:bodyPr/>
          <a:lstStyle/>
          <a:p>
            <a:fld id="{2FDAB96D-05E2-4736-851B-A79DB763C12C}" type="slidenum">
              <a:rPr lang="en-US" smtClean="0"/>
              <a:t>‹#›</a:t>
            </a:fld>
            <a:endParaRPr lang="en-US"/>
          </a:p>
        </p:txBody>
      </p:sp>
    </p:spTree>
    <p:extLst>
      <p:ext uri="{BB962C8B-B14F-4D97-AF65-F5344CB8AC3E}">
        <p14:creationId xmlns:p14="http://schemas.microsoft.com/office/powerpoint/2010/main" val="3787757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22F2-C670-9171-8F3E-88826571CA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6F11B4-0EDD-3154-0206-8D25A14E94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5EB811-5B75-2AF4-6504-318835494F3E}"/>
              </a:ext>
            </a:extLst>
          </p:cNvPr>
          <p:cNvSpPr>
            <a:spLocks noGrp="1"/>
          </p:cNvSpPr>
          <p:nvPr>
            <p:ph type="dt" sz="half" idx="10"/>
          </p:nvPr>
        </p:nvSpPr>
        <p:spPr/>
        <p:txBody>
          <a:bodyPr/>
          <a:lstStyle/>
          <a:p>
            <a:fld id="{8B6E326B-65C5-4427-A27E-EF941B2628DA}" type="datetimeFigureOut">
              <a:rPr lang="en-US" smtClean="0"/>
              <a:t>2/25/2026</a:t>
            </a:fld>
            <a:endParaRPr lang="en-US"/>
          </a:p>
        </p:txBody>
      </p:sp>
      <p:sp>
        <p:nvSpPr>
          <p:cNvPr id="5" name="Footer Placeholder 4">
            <a:extLst>
              <a:ext uri="{FF2B5EF4-FFF2-40B4-BE49-F238E27FC236}">
                <a16:creationId xmlns:a16="http://schemas.microsoft.com/office/drawing/2014/main" id="{F4442891-783E-65B5-2C2A-DEF5F03B1B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AFEE04-2107-BEE7-2345-0924E796341E}"/>
              </a:ext>
            </a:extLst>
          </p:cNvPr>
          <p:cNvSpPr>
            <a:spLocks noGrp="1"/>
          </p:cNvSpPr>
          <p:nvPr>
            <p:ph type="sldNum" sz="quarter" idx="12"/>
          </p:nvPr>
        </p:nvSpPr>
        <p:spPr/>
        <p:txBody>
          <a:bodyPr/>
          <a:lstStyle/>
          <a:p>
            <a:fld id="{2FDAB96D-05E2-4736-851B-A79DB763C12C}" type="slidenum">
              <a:rPr lang="en-US" smtClean="0"/>
              <a:t>‹#›</a:t>
            </a:fld>
            <a:endParaRPr lang="en-US"/>
          </a:p>
        </p:txBody>
      </p:sp>
    </p:spTree>
    <p:extLst>
      <p:ext uri="{BB962C8B-B14F-4D97-AF65-F5344CB8AC3E}">
        <p14:creationId xmlns:p14="http://schemas.microsoft.com/office/powerpoint/2010/main" val="867745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CB4C9D-874B-9CE2-B235-86F0DD4474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939CFB-079B-E85D-DF83-C92D04BE19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61DC69-0DB2-91F1-AD94-BCB0EC5F3F9A}"/>
              </a:ext>
            </a:extLst>
          </p:cNvPr>
          <p:cNvSpPr>
            <a:spLocks noGrp="1"/>
          </p:cNvSpPr>
          <p:nvPr>
            <p:ph type="dt" sz="half" idx="10"/>
          </p:nvPr>
        </p:nvSpPr>
        <p:spPr/>
        <p:txBody>
          <a:bodyPr/>
          <a:lstStyle/>
          <a:p>
            <a:fld id="{8B6E326B-65C5-4427-A27E-EF941B2628DA}" type="datetimeFigureOut">
              <a:rPr lang="en-US" smtClean="0"/>
              <a:t>2/25/2026</a:t>
            </a:fld>
            <a:endParaRPr lang="en-US"/>
          </a:p>
        </p:txBody>
      </p:sp>
      <p:sp>
        <p:nvSpPr>
          <p:cNvPr id="5" name="Footer Placeholder 4">
            <a:extLst>
              <a:ext uri="{FF2B5EF4-FFF2-40B4-BE49-F238E27FC236}">
                <a16:creationId xmlns:a16="http://schemas.microsoft.com/office/drawing/2014/main" id="{7C3679D9-0443-7A62-426A-6DDED261C4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9EF6C-A7E6-5862-E0A9-F448B0666EFF}"/>
              </a:ext>
            </a:extLst>
          </p:cNvPr>
          <p:cNvSpPr>
            <a:spLocks noGrp="1"/>
          </p:cNvSpPr>
          <p:nvPr>
            <p:ph type="sldNum" sz="quarter" idx="12"/>
          </p:nvPr>
        </p:nvSpPr>
        <p:spPr/>
        <p:txBody>
          <a:bodyPr/>
          <a:lstStyle/>
          <a:p>
            <a:fld id="{2FDAB96D-05E2-4736-851B-A79DB763C12C}" type="slidenum">
              <a:rPr lang="en-US" smtClean="0"/>
              <a:t>‹#›</a:t>
            </a:fld>
            <a:endParaRPr lang="en-US"/>
          </a:p>
        </p:txBody>
      </p:sp>
    </p:spTree>
    <p:extLst>
      <p:ext uri="{BB962C8B-B14F-4D97-AF65-F5344CB8AC3E}">
        <p14:creationId xmlns:p14="http://schemas.microsoft.com/office/powerpoint/2010/main" val="1596953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tx2">
                <a:lumMod val="50000"/>
                <a:lumOff val="50000"/>
              </a:schemeClr>
            </a:gs>
            <a:gs pos="100000">
              <a:srgbClr val="FC2476"/>
            </a:gs>
            <a:gs pos="79000">
              <a:srgbClr val="F292E4"/>
            </a:gs>
            <a:gs pos="55000">
              <a:schemeClr val="accent1">
                <a:lumMod val="30000"/>
                <a:lumOff val="70000"/>
              </a:schemeClr>
            </a:gs>
          </a:gsLst>
          <a:lin ang="54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148D6C-A773-497F-43F5-AE461A03C6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F6B76C-7823-65C6-484C-11C14133BD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926350-176B-6D2A-CC4E-A903B17AD4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6E326B-65C5-4427-A27E-EF941B2628DA}" type="datetimeFigureOut">
              <a:rPr lang="en-US" smtClean="0"/>
              <a:t>2/25/2026</a:t>
            </a:fld>
            <a:endParaRPr lang="en-US"/>
          </a:p>
        </p:txBody>
      </p:sp>
      <p:sp>
        <p:nvSpPr>
          <p:cNvPr id="5" name="Footer Placeholder 4">
            <a:extLst>
              <a:ext uri="{FF2B5EF4-FFF2-40B4-BE49-F238E27FC236}">
                <a16:creationId xmlns:a16="http://schemas.microsoft.com/office/drawing/2014/main" id="{3DB08BB0-9B89-A07D-0B94-EDB195223F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7B16DCB-9DAC-6F73-A1E5-6ABD416AA7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DAB96D-05E2-4736-851B-A79DB763C12C}" type="slidenum">
              <a:rPr lang="en-US" smtClean="0"/>
              <a:t>‹#›</a:t>
            </a:fld>
            <a:endParaRPr lang="en-US"/>
          </a:p>
        </p:txBody>
      </p:sp>
    </p:spTree>
    <p:extLst>
      <p:ext uri="{BB962C8B-B14F-4D97-AF65-F5344CB8AC3E}">
        <p14:creationId xmlns:p14="http://schemas.microsoft.com/office/powerpoint/2010/main" val="2883923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ncsc.gov.uk/collection/developers-collection/principles/protect-your-code-repository" TargetMode="External"/><Relationship Id="rId2" Type="http://schemas.openxmlformats.org/officeDocument/2006/relationships/hyperlink" Target="https://orca.security/resources/blog/source-code-security-best-practices/" TargetMode="External"/><Relationship Id="rId1" Type="http://schemas.openxmlformats.org/officeDocument/2006/relationships/slideLayout" Target="../slideLayouts/slideLayout2.xml"/><Relationship Id="rId4" Type="http://schemas.openxmlformats.org/officeDocument/2006/relationships/hyperlink" Target="https://snyk.io/articles/securing-source-code-repositori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787D3-BED3-BC0A-DDCA-7CA88336E9E8}"/>
              </a:ext>
            </a:extLst>
          </p:cNvPr>
          <p:cNvSpPr>
            <a:spLocks noGrp="1"/>
          </p:cNvSpPr>
          <p:nvPr>
            <p:ph type="ctrTitle"/>
          </p:nvPr>
        </p:nvSpPr>
        <p:spPr/>
        <p:txBody>
          <a:bodyPr/>
          <a:lstStyle/>
          <a:p>
            <a:r>
              <a:rPr lang="en-US" dirty="0"/>
              <a:t>Security in Shared Source Code Repositories</a:t>
            </a:r>
          </a:p>
        </p:txBody>
      </p:sp>
      <p:sp>
        <p:nvSpPr>
          <p:cNvPr id="3" name="Subtitle 2">
            <a:extLst>
              <a:ext uri="{FF2B5EF4-FFF2-40B4-BE49-F238E27FC236}">
                <a16:creationId xmlns:a16="http://schemas.microsoft.com/office/drawing/2014/main" id="{82F51C45-DC0A-BC7A-82D5-66B720A737F8}"/>
              </a:ext>
            </a:extLst>
          </p:cNvPr>
          <p:cNvSpPr>
            <a:spLocks noGrp="1"/>
          </p:cNvSpPr>
          <p:nvPr>
            <p:ph type="subTitle" idx="1"/>
          </p:nvPr>
        </p:nvSpPr>
        <p:spPr/>
        <p:txBody>
          <a:bodyPr>
            <a:normAutofit fontScale="77500" lnSpcReduction="20000"/>
          </a:bodyPr>
          <a:lstStyle/>
          <a:p>
            <a:r>
              <a:rPr lang="en-US" dirty="0"/>
              <a:t>Daniel Preller</a:t>
            </a:r>
          </a:p>
          <a:p>
            <a:r>
              <a:rPr lang="en-US" dirty="0"/>
              <a:t>CSD 380</a:t>
            </a:r>
          </a:p>
          <a:p>
            <a:r>
              <a:rPr lang="en-US" dirty="0"/>
              <a:t>Assignment 10.2</a:t>
            </a:r>
          </a:p>
          <a:p>
            <a:r>
              <a:rPr lang="en-US" dirty="0"/>
              <a:t>Dr. Toni Farley</a:t>
            </a:r>
          </a:p>
          <a:p>
            <a:r>
              <a:rPr lang="en-US" dirty="0"/>
              <a:t>25 February 2026</a:t>
            </a:r>
          </a:p>
        </p:txBody>
      </p:sp>
    </p:spTree>
    <p:extLst>
      <p:ext uri="{BB962C8B-B14F-4D97-AF65-F5344CB8AC3E}">
        <p14:creationId xmlns:p14="http://schemas.microsoft.com/office/powerpoint/2010/main" val="277641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0A1B1-3088-314D-714D-48701F26A171}"/>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The Need for Repository Security</a:t>
            </a:r>
          </a:p>
        </p:txBody>
      </p:sp>
      <p:sp>
        <p:nvSpPr>
          <p:cNvPr id="3" name="Content Placeholder 2">
            <a:extLst>
              <a:ext uri="{FF2B5EF4-FFF2-40B4-BE49-F238E27FC236}">
                <a16:creationId xmlns:a16="http://schemas.microsoft.com/office/drawing/2014/main" id="{8E1A7246-105B-8838-6CF9-A6FFEEB27B92}"/>
              </a:ext>
            </a:extLst>
          </p:cNvPr>
          <p:cNvSpPr>
            <a:spLocks noGrp="1"/>
          </p:cNvSpPr>
          <p:nvPr>
            <p:ph idx="1"/>
          </p:nvPr>
        </p:nvSpPr>
        <p:spPr/>
        <p:txBody>
          <a:bodyPr>
            <a:normAutofit fontScale="92500" lnSpcReduction="10000"/>
          </a:bodyPr>
          <a:lstStyle/>
          <a:p>
            <a:r>
              <a:rPr lang="en-US" dirty="0">
                <a:latin typeface="Calibri" panose="020F0502020204030204" pitchFamily="34" charset="0"/>
                <a:ea typeface="Calibri" panose="020F0502020204030204" pitchFamily="34" charset="0"/>
                <a:cs typeface="Calibri" panose="020F0502020204030204" pitchFamily="34" charset="0"/>
              </a:rPr>
              <a:t>Protecting the source code repository is essential for protecting the entire software supply chain, as all parts of the supply chain flow through the repository (Tal, n.d., n.p.).</a:t>
            </a:r>
          </a:p>
          <a:p>
            <a:r>
              <a:rPr lang="en-US" dirty="0">
                <a:latin typeface="Calibri" panose="020F0502020204030204" pitchFamily="34" charset="0"/>
                <a:ea typeface="Calibri" panose="020F0502020204030204" pitchFamily="34" charset="0"/>
                <a:cs typeface="Calibri" panose="020F0502020204030204" pitchFamily="34" charset="0"/>
              </a:rPr>
              <a:t>Repositories also often contain sensitive information, such as proprietary algorithms and business details, that must be protected (Tal, n.d., n.p.).</a:t>
            </a:r>
          </a:p>
          <a:p>
            <a:r>
              <a:rPr lang="en-US" dirty="0">
                <a:latin typeface="Calibri" panose="020F0502020204030204" pitchFamily="34" charset="0"/>
                <a:ea typeface="Calibri" panose="020F0502020204030204" pitchFamily="34" charset="0"/>
                <a:cs typeface="Calibri" panose="020F0502020204030204" pitchFamily="34" charset="0"/>
              </a:rPr>
              <a:t>“Securing your source code safeguards it from being stolen or tampered with by malicious actors, reducing the risk of intellectual property theft and potential vulnerabilities” (Tal, n.d., n.p.).</a:t>
            </a:r>
          </a:p>
          <a:p>
            <a:r>
              <a:rPr lang="en-US" dirty="0">
                <a:latin typeface="Calibri" panose="020F0502020204030204" pitchFamily="34" charset="0"/>
                <a:ea typeface="Calibri" panose="020F0502020204030204" pitchFamily="34" charset="0"/>
                <a:cs typeface="Calibri" panose="020F0502020204030204" pitchFamily="34" charset="0"/>
              </a:rPr>
              <a:t>In a DevOps environment, the repository is the heart of the development process, containing code, environment information, and all other development artifacts. This makes it the most valuable target for attackers and the most important asset for security.</a:t>
            </a:r>
          </a:p>
        </p:txBody>
      </p:sp>
    </p:spTree>
    <p:extLst>
      <p:ext uri="{BB962C8B-B14F-4D97-AF65-F5344CB8AC3E}">
        <p14:creationId xmlns:p14="http://schemas.microsoft.com/office/powerpoint/2010/main" val="2550685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36F61-39EC-4FC6-A2DB-5274709FA2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2C84C-B4FA-202C-9D04-7364D3107445}"/>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Choosing a Secure Repository</a:t>
            </a:r>
          </a:p>
        </p:txBody>
      </p:sp>
      <p:sp>
        <p:nvSpPr>
          <p:cNvPr id="3" name="Content Placeholder 2">
            <a:extLst>
              <a:ext uri="{FF2B5EF4-FFF2-40B4-BE49-F238E27FC236}">
                <a16:creationId xmlns:a16="http://schemas.microsoft.com/office/drawing/2014/main" id="{A12C026D-0BF7-B3E0-9E41-47478A8B9C36}"/>
              </a:ext>
            </a:extLst>
          </p:cNvPr>
          <p:cNvSpPr>
            <a:spLocks noGrp="1"/>
          </p:cNvSpPr>
          <p:nvPr>
            <p:ph idx="1"/>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Repository security begins when selecting a repository to use.</a:t>
            </a:r>
          </a:p>
          <a:p>
            <a:r>
              <a:rPr lang="en-US" dirty="0">
                <a:latin typeface="Calibri" panose="020F0502020204030204" pitchFamily="34" charset="0"/>
                <a:ea typeface="Calibri" panose="020F0502020204030204" pitchFamily="34" charset="0"/>
                <a:cs typeface="Calibri" panose="020F0502020204030204" pitchFamily="34" charset="0"/>
              </a:rPr>
              <a:t>“</a:t>
            </a:r>
            <a:r>
              <a:rPr lang="en-US" dirty="0"/>
              <a:t>Consider how the repository itself is administered and managed, including the underlying infrastructure. If the security of these components is compromised, it is difficult to assert trust in the code you store on it” (NCSC,  n.d., n.p.).</a:t>
            </a:r>
          </a:p>
          <a:p>
            <a:r>
              <a:rPr lang="en-US" dirty="0">
                <a:latin typeface="Calibri" panose="020F0502020204030204" pitchFamily="34" charset="0"/>
                <a:ea typeface="Calibri" panose="020F0502020204030204" pitchFamily="34" charset="0"/>
                <a:cs typeface="Calibri" panose="020F0502020204030204" pitchFamily="34" charset="0"/>
              </a:rPr>
              <a:t>GitHub, </a:t>
            </a:r>
            <a:r>
              <a:rPr lang="en-US" dirty="0" err="1">
                <a:latin typeface="Calibri" panose="020F0502020204030204" pitchFamily="34" charset="0"/>
                <a:ea typeface="Calibri" panose="020F0502020204030204" pitchFamily="34" charset="0"/>
                <a:cs typeface="Calibri" panose="020F0502020204030204" pitchFamily="34" charset="0"/>
              </a:rPr>
              <a:t>BitBucket</a:t>
            </a:r>
            <a:r>
              <a:rPr lang="en-US" dirty="0">
                <a:latin typeface="Calibri" panose="020F0502020204030204" pitchFamily="34" charset="0"/>
                <a:ea typeface="Calibri" panose="020F0502020204030204" pitchFamily="34" charset="0"/>
                <a:cs typeface="Calibri" panose="020F0502020204030204" pitchFamily="34" charset="0"/>
              </a:rPr>
              <a:t>, GitLab, and other repositories all have different security systems and policies, so security should be a consideration when selecting a repository.</a:t>
            </a:r>
          </a:p>
        </p:txBody>
      </p:sp>
    </p:spTree>
    <p:extLst>
      <p:ext uri="{BB962C8B-B14F-4D97-AF65-F5344CB8AC3E}">
        <p14:creationId xmlns:p14="http://schemas.microsoft.com/office/powerpoint/2010/main" val="3965144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527A1-7EFC-9B76-72B7-7BD39B2131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16414-0D66-63B4-B117-9AFF94892608}"/>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Separate Secrets from Code</a:t>
            </a:r>
          </a:p>
        </p:txBody>
      </p:sp>
      <p:sp>
        <p:nvSpPr>
          <p:cNvPr id="3" name="Content Placeholder 2">
            <a:extLst>
              <a:ext uri="{FF2B5EF4-FFF2-40B4-BE49-F238E27FC236}">
                <a16:creationId xmlns:a16="http://schemas.microsoft.com/office/drawing/2014/main" id="{3FFEDB8E-68B7-3206-D2F4-36B9503DD945}"/>
              </a:ext>
            </a:extLst>
          </p:cNvPr>
          <p:cNvSpPr>
            <a:spLocks noGrp="1"/>
          </p:cNvSpPr>
          <p:nvPr>
            <p:ph idx="1"/>
          </p:nvPr>
        </p:nvSpPr>
        <p:spPr/>
        <p:txBody>
          <a:bodyPr>
            <a:normAutofit fontScale="92500" lnSpcReduction="10000"/>
          </a:bodyPr>
          <a:lstStyle/>
          <a:p>
            <a:r>
              <a:rPr lang="en-US" dirty="0">
                <a:latin typeface="Calibri" panose="020F0502020204030204" pitchFamily="34" charset="0"/>
                <a:ea typeface="Calibri" panose="020F0502020204030204" pitchFamily="34" charset="0"/>
                <a:cs typeface="Calibri" panose="020F0502020204030204" pitchFamily="34" charset="0"/>
              </a:rPr>
              <a:t>In a DevOps environment, all parts of the development process are usually stored in the repository, not just the code. Secrets, however, should be an exception.</a:t>
            </a:r>
          </a:p>
          <a:p>
            <a:r>
              <a:rPr lang="en-US" dirty="0">
                <a:latin typeface="Calibri" panose="020F0502020204030204" pitchFamily="34" charset="0"/>
                <a:ea typeface="Calibri" panose="020F0502020204030204" pitchFamily="34" charset="0"/>
                <a:cs typeface="Calibri" panose="020F0502020204030204" pitchFamily="34" charset="0"/>
              </a:rPr>
              <a:t>Secrets management systems can be used to separate secrets from the code (Tal, n.d., n.p.).</a:t>
            </a:r>
          </a:p>
          <a:p>
            <a:r>
              <a:rPr lang="en-US" dirty="0">
                <a:latin typeface="Calibri" panose="020F0502020204030204" pitchFamily="34" charset="0"/>
                <a:ea typeface="Calibri" panose="020F0502020204030204" pitchFamily="34" charset="0"/>
                <a:cs typeface="Calibri" panose="020F0502020204030204" pitchFamily="34" charset="0"/>
              </a:rPr>
              <a:t>“</a:t>
            </a:r>
            <a:r>
              <a:rPr lang="en-US" dirty="0"/>
              <a:t>Logically separating secret credentials from source code and having a carefully defined injection process will help prevent them from getting leaked” (NCSC, n.d., n.p.).</a:t>
            </a:r>
          </a:p>
          <a:p>
            <a:r>
              <a:rPr lang="en-US" dirty="0">
                <a:latin typeface="Calibri" panose="020F0502020204030204" pitchFamily="34" charset="0"/>
                <a:ea typeface="Calibri" panose="020F0502020204030204" pitchFamily="34" charset="0"/>
                <a:cs typeface="Calibri" panose="020F0502020204030204" pitchFamily="34" charset="0"/>
              </a:rPr>
              <a:t>Never hardcode secrets into source code.</a:t>
            </a:r>
          </a:p>
          <a:p>
            <a:r>
              <a:rPr lang="en-US" dirty="0">
                <a:latin typeface="Calibri" panose="020F0502020204030204" pitchFamily="34" charset="0"/>
                <a:ea typeface="Calibri" panose="020F0502020204030204" pitchFamily="34" charset="0"/>
                <a:cs typeface="Calibri" panose="020F0502020204030204" pitchFamily="34" charset="0"/>
              </a:rPr>
              <a:t>Automated tools can be used to detect if secrets have accidentally been hardcoded (Chase, 2025, n.p.).</a:t>
            </a:r>
          </a:p>
        </p:txBody>
      </p:sp>
    </p:spTree>
    <p:extLst>
      <p:ext uri="{BB962C8B-B14F-4D97-AF65-F5344CB8AC3E}">
        <p14:creationId xmlns:p14="http://schemas.microsoft.com/office/powerpoint/2010/main" val="3769544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73E30-7348-CCDF-BCD6-E1A9CED61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5F0DE-DA5D-1F23-D26E-76DFB4CC0792}"/>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Limit Repository Access</a:t>
            </a:r>
          </a:p>
        </p:txBody>
      </p:sp>
      <p:sp>
        <p:nvSpPr>
          <p:cNvPr id="3" name="Content Placeholder 2">
            <a:extLst>
              <a:ext uri="{FF2B5EF4-FFF2-40B4-BE49-F238E27FC236}">
                <a16:creationId xmlns:a16="http://schemas.microsoft.com/office/drawing/2014/main" id="{6C6F1592-876B-DCA8-1372-EE4DCCABE30A}"/>
              </a:ext>
            </a:extLst>
          </p:cNvPr>
          <p:cNvSpPr>
            <a:spLocks noGrp="1"/>
          </p:cNvSpPr>
          <p:nvPr>
            <p:ph idx="1"/>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Not all people need access to all parts of the repository.</a:t>
            </a:r>
          </a:p>
          <a:p>
            <a:r>
              <a:rPr lang="en-US" dirty="0">
                <a:latin typeface="Calibri" panose="020F0502020204030204" pitchFamily="34" charset="0"/>
                <a:ea typeface="Calibri" panose="020F0502020204030204" pitchFamily="34" charset="0"/>
                <a:cs typeface="Calibri" panose="020F0502020204030204" pitchFamily="34" charset="0"/>
              </a:rPr>
              <a:t>The Principle of Least Privilege requires granting only the minimum access necessary for employees to perform their jobs (Chase, 2025, n.p.).</a:t>
            </a:r>
          </a:p>
          <a:p>
            <a:r>
              <a:rPr lang="en-US" dirty="0">
                <a:latin typeface="Calibri" panose="020F0502020204030204" pitchFamily="34" charset="0"/>
                <a:ea typeface="Calibri" panose="020F0502020204030204" pitchFamily="34" charset="0"/>
                <a:cs typeface="Calibri" panose="020F0502020204030204" pitchFamily="34" charset="0"/>
              </a:rPr>
              <a:t>“</a:t>
            </a:r>
            <a:r>
              <a:rPr lang="en-US" dirty="0"/>
              <a:t>Regularly review and update user permissions to minimize potential security risks, or tie permissions into your organizational directory” (Tal, n.d., n.p.).</a:t>
            </a:r>
          </a:p>
          <a:p>
            <a:r>
              <a:rPr lang="en-US" dirty="0"/>
              <a:t>Multifactor authentication can be used to reduce the risk of stolen credentials (Chase, 2025, n.p.).</a:t>
            </a:r>
          </a:p>
        </p:txBody>
      </p:sp>
    </p:spTree>
    <p:extLst>
      <p:ext uri="{BB962C8B-B14F-4D97-AF65-F5344CB8AC3E}">
        <p14:creationId xmlns:p14="http://schemas.microsoft.com/office/powerpoint/2010/main" val="3198696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D833-A9BF-BF95-0C6B-C62496168E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89AB8-E8E3-1585-5382-3FCEC1213B24}"/>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Core Repository Security Best Practices</a:t>
            </a:r>
          </a:p>
        </p:txBody>
      </p:sp>
      <p:graphicFrame>
        <p:nvGraphicFramePr>
          <p:cNvPr id="4" name="Content Placeholder 3">
            <a:extLst>
              <a:ext uri="{FF2B5EF4-FFF2-40B4-BE49-F238E27FC236}">
                <a16:creationId xmlns:a16="http://schemas.microsoft.com/office/drawing/2014/main" id="{B8527055-BE17-7F0F-B3C2-0AA55B9F0920}"/>
              </a:ext>
            </a:extLst>
          </p:cNvPr>
          <p:cNvGraphicFramePr>
            <a:graphicFrameLocks noGrp="1"/>
          </p:cNvGraphicFramePr>
          <p:nvPr>
            <p:ph idx="1"/>
            <p:extLst>
              <p:ext uri="{D42A27DB-BD31-4B8C-83A1-F6EECF244321}">
                <p14:modId xmlns:p14="http://schemas.microsoft.com/office/powerpoint/2010/main" val="372181838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69627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6C3E1-2AF2-9B4E-8A8F-368A262227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AD9CB-ADFA-CC01-2FF6-72034DAC079F}"/>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Other Best Practices</a:t>
            </a:r>
          </a:p>
        </p:txBody>
      </p:sp>
      <p:sp>
        <p:nvSpPr>
          <p:cNvPr id="3" name="Content Placeholder 2">
            <a:extLst>
              <a:ext uri="{FF2B5EF4-FFF2-40B4-BE49-F238E27FC236}">
                <a16:creationId xmlns:a16="http://schemas.microsoft.com/office/drawing/2014/main" id="{2ECA9E71-68A6-3726-2F45-23748FA90E96}"/>
              </a:ext>
            </a:extLst>
          </p:cNvPr>
          <p:cNvSpPr>
            <a:spLocks noGrp="1"/>
          </p:cNvSpPr>
          <p:nvPr>
            <p:ph idx="1"/>
          </p:nvPr>
        </p:nvSpPr>
        <p:spPr/>
        <p:txBody>
          <a:bodyPr>
            <a:normAutofit fontScale="92500" lnSpcReduction="10000"/>
          </a:bodyPr>
          <a:lstStyle/>
          <a:p>
            <a:r>
              <a:rPr lang="en-US" dirty="0">
                <a:latin typeface="Calibri" panose="020F0502020204030204" pitchFamily="34" charset="0"/>
                <a:ea typeface="Calibri" panose="020F0502020204030204" pitchFamily="34" charset="0"/>
                <a:cs typeface="Calibri" panose="020F0502020204030204" pitchFamily="34" charset="0"/>
              </a:rPr>
              <a:t>Ensure that all code merged into the main branch has been subject to a rigorous review process (NCSC, n.d., n.p.).</a:t>
            </a:r>
          </a:p>
          <a:p>
            <a:r>
              <a:rPr lang="en-US" dirty="0">
                <a:latin typeface="Calibri" panose="020F0502020204030204" pitchFamily="34" charset="0"/>
                <a:ea typeface="Calibri" panose="020F0502020204030204" pitchFamily="34" charset="0"/>
                <a:cs typeface="Calibri" panose="020F0502020204030204" pitchFamily="34" charset="0"/>
              </a:rPr>
              <a:t>Use security tools to protect the repository and verify its integrity.</a:t>
            </a:r>
          </a:p>
          <a:p>
            <a:r>
              <a:rPr lang="en-US" dirty="0">
                <a:latin typeface="Calibri" panose="020F0502020204030204" pitchFamily="34" charset="0"/>
                <a:ea typeface="Calibri" panose="020F0502020204030204" pitchFamily="34" charset="0"/>
                <a:cs typeface="Calibri" panose="020F0502020204030204" pitchFamily="34" charset="0"/>
              </a:rPr>
              <a:t>Because they come from external sources, open-source components require special security attention (Chase, 2025, n.p.).</a:t>
            </a:r>
          </a:p>
          <a:p>
            <a:r>
              <a:rPr lang="en-US" dirty="0">
                <a:latin typeface="Calibri" panose="020F0502020204030204" pitchFamily="34" charset="0"/>
                <a:ea typeface="Calibri" panose="020F0502020204030204" pitchFamily="34" charset="0"/>
                <a:cs typeface="Calibri" panose="020F0502020204030204" pitchFamily="34" charset="0"/>
              </a:rPr>
              <a:t>“</a:t>
            </a:r>
            <a:r>
              <a:rPr lang="en-US" dirty="0"/>
              <a:t>Require cryptographic signing of commits to ensure authenticity and prevent impersonation attacks” (Chase, 2025, n.p.).</a:t>
            </a:r>
          </a:p>
          <a:p>
            <a:r>
              <a:rPr lang="en-US" dirty="0">
                <a:latin typeface="Calibri" panose="020F0502020204030204" pitchFamily="34" charset="0"/>
                <a:ea typeface="Calibri" panose="020F0502020204030204" pitchFamily="34" charset="0"/>
                <a:cs typeface="Calibri" panose="020F0502020204030204" pitchFamily="34" charset="0"/>
              </a:rPr>
              <a:t>Utilize defense-in-depth to create a comprehensive security plan by integrating multiple security tools and practices.</a:t>
            </a:r>
          </a:p>
          <a:p>
            <a:r>
              <a:rPr lang="en-US" dirty="0">
                <a:latin typeface="Calibri" panose="020F0502020204030204" pitchFamily="34" charset="0"/>
                <a:ea typeface="Calibri" panose="020F0502020204030204" pitchFamily="34" charset="0"/>
                <a:cs typeface="Calibri" panose="020F0502020204030204" pitchFamily="34" charset="0"/>
              </a:rPr>
              <a:t>Keep abreast of emerging best practices in the rapidly changing field of information security.</a:t>
            </a:r>
          </a:p>
        </p:txBody>
      </p:sp>
    </p:spTree>
    <p:extLst>
      <p:ext uri="{BB962C8B-B14F-4D97-AF65-F5344CB8AC3E}">
        <p14:creationId xmlns:p14="http://schemas.microsoft.com/office/powerpoint/2010/main" val="3487111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DB52F-5B82-FD6C-1EFE-D83EDB91F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34DF05-329F-8D32-A7B0-6DB8A9662343}"/>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Conclusion</a:t>
            </a:r>
          </a:p>
        </p:txBody>
      </p:sp>
      <p:sp>
        <p:nvSpPr>
          <p:cNvPr id="3" name="Content Placeholder 2">
            <a:extLst>
              <a:ext uri="{FF2B5EF4-FFF2-40B4-BE49-F238E27FC236}">
                <a16:creationId xmlns:a16="http://schemas.microsoft.com/office/drawing/2014/main" id="{ACBE9141-11BE-BE30-8724-F350CB2C94CE}"/>
              </a:ext>
            </a:extLst>
          </p:cNvPr>
          <p:cNvSpPr>
            <a:spLocks noGrp="1"/>
          </p:cNvSpPr>
          <p:nvPr>
            <p:ph idx="1"/>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The repository is the heart of the DevOps development process, so it is the most important asset to protect.</a:t>
            </a:r>
          </a:p>
          <a:p>
            <a:r>
              <a:rPr lang="en-US" dirty="0">
                <a:latin typeface="Calibri" panose="020F0502020204030204" pitchFamily="34" charset="0"/>
                <a:ea typeface="Calibri" panose="020F0502020204030204" pitchFamily="34" charset="0"/>
                <a:cs typeface="Calibri" panose="020F0502020204030204" pitchFamily="34" charset="0"/>
              </a:rPr>
              <a:t>Key repository security practices include using a secure repository, separating secrets from source code, and limiting access to the repository.</a:t>
            </a:r>
          </a:p>
          <a:p>
            <a:r>
              <a:rPr lang="en-US" dirty="0">
                <a:latin typeface="Calibri" panose="020F0502020204030204" pitchFamily="34" charset="0"/>
                <a:ea typeface="Calibri" panose="020F0502020204030204" pitchFamily="34" charset="0"/>
                <a:cs typeface="Calibri" panose="020F0502020204030204" pitchFamily="34" charset="0"/>
              </a:rPr>
              <a:t>To keep a shared source code repository secure, it is critical to utilize multiple security practices and remain aware of new developments in the field.</a:t>
            </a:r>
          </a:p>
        </p:txBody>
      </p:sp>
    </p:spTree>
    <p:extLst>
      <p:ext uri="{BB962C8B-B14F-4D97-AF65-F5344CB8AC3E}">
        <p14:creationId xmlns:p14="http://schemas.microsoft.com/office/powerpoint/2010/main" val="341075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BD4E2-ACC5-0B72-F1E5-FC08A09B64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5A1A6-6A96-665D-7433-4717B5379930}"/>
              </a:ext>
            </a:extLst>
          </p:cNvPr>
          <p:cNvSpPr>
            <a:spLocks noGrp="1"/>
          </p:cNvSpPr>
          <p:nvPr>
            <p:ph type="title"/>
          </p:nvPr>
        </p:nvSpPr>
        <p:spPr/>
        <p: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References</a:t>
            </a:r>
          </a:p>
        </p:txBody>
      </p:sp>
      <p:sp>
        <p:nvSpPr>
          <p:cNvPr id="3" name="Content Placeholder 2">
            <a:extLst>
              <a:ext uri="{FF2B5EF4-FFF2-40B4-BE49-F238E27FC236}">
                <a16:creationId xmlns:a16="http://schemas.microsoft.com/office/drawing/2014/main" id="{CF39ABBC-D6F8-5572-4B63-5619E683CA4F}"/>
              </a:ext>
            </a:extLst>
          </p:cNvPr>
          <p:cNvSpPr>
            <a:spLocks noGrp="1"/>
          </p:cNvSpPr>
          <p:nvPr>
            <p:ph idx="1"/>
          </p:nvPr>
        </p:nvSpPr>
        <p:spPr/>
        <p:txBody>
          <a:bodyPr>
            <a:normAutofit lnSpcReduction="10000"/>
          </a:bodyPr>
          <a:lstStyle/>
          <a:p>
            <a:r>
              <a:rPr lang="en-US" dirty="0">
                <a:latin typeface="Calibri" panose="020F0502020204030204" pitchFamily="34" charset="0"/>
                <a:ea typeface="Calibri" panose="020F0502020204030204" pitchFamily="34" charset="0"/>
                <a:cs typeface="Calibri" panose="020F0502020204030204" pitchFamily="34" charset="0"/>
              </a:rPr>
              <a:t>Chase, T. (2025). “Securing Your Source Code: A Critical Defense Against Modern Threats.” </a:t>
            </a:r>
            <a:r>
              <a:rPr lang="en-US" i="1" dirty="0">
                <a:latin typeface="Calibri" panose="020F0502020204030204" pitchFamily="34" charset="0"/>
                <a:ea typeface="Calibri" panose="020F0502020204030204" pitchFamily="34" charset="0"/>
                <a:cs typeface="Calibri" panose="020F0502020204030204" pitchFamily="34" charset="0"/>
              </a:rPr>
              <a:t>Orca Security</a:t>
            </a:r>
            <a:r>
              <a:rPr lang="en-US" dirty="0">
                <a:latin typeface="Calibri" panose="020F0502020204030204" pitchFamily="34" charset="0"/>
                <a:ea typeface="Calibri" panose="020F0502020204030204" pitchFamily="34" charset="0"/>
                <a:cs typeface="Calibri" panose="020F0502020204030204" pitchFamily="34" charset="0"/>
              </a:rPr>
              <a:t>. Retrieved from </a:t>
            </a:r>
            <a:r>
              <a:rPr lang="en-US" dirty="0">
                <a:latin typeface="Calibri" panose="020F0502020204030204" pitchFamily="34" charset="0"/>
                <a:ea typeface="Calibri" panose="020F0502020204030204" pitchFamily="34" charset="0"/>
                <a:cs typeface="Calibri" panose="020F0502020204030204" pitchFamily="34" charset="0"/>
                <a:hlinkClick r:id="rId2"/>
              </a:rPr>
              <a:t>https://orca.security/resources/blog/source-code-security-best-practices/</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NCSC. (n.d.). “Protect Your Code Repository.” </a:t>
            </a:r>
            <a:r>
              <a:rPr lang="en-US" i="1" dirty="0">
                <a:latin typeface="Calibri" panose="020F0502020204030204" pitchFamily="34" charset="0"/>
                <a:ea typeface="Calibri" panose="020F0502020204030204" pitchFamily="34" charset="0"/>
                <a:cs typeface="Calibri" panose="020F0502020204030204" pitchFamily="34" charset="0"/>
              </a:rPr>
              <a:t>National Cyber Security Centre</a:t>
            </a:r>
            <a:r>
              <a:rPr lang="en-US" dirty="0">
                <a:latin typeface="Calibri" panose="020F0502020204030204" pitchFamily="34" charset="0"/>
                <a:ea typeface="Calibri" panose="020F0502020204030204" pitchFamily="34" charset="0"/>
                <a:cs typeface="Calibri" panose="020F0502020204030204" pitchFamily="34" charset="0"/>
              </a:rPr>
              <a:t>. Retrieved from </a:t>
            </a:r>
            <a:r>
              <a:rPr lang="en-US" dirty="0">
                <a:latin typeface="Calibri" panose="020F0502020204030204" pitchFamily="34" charset="0"/>
                <a:ea typeface="Calibri" panose="020F0502020204030204" pitchFamily="34" charset="0"/>
                <a:cs typeface="Calibri" panose="020F0502020204030204" pitchFamily="34" charset="0"/>
                <a:hlinkClick r:id="rId3"/>
              </a:rPr>
              <a:t>https://www.ncsc.gov.uk/collection/developers-collection/principles/protect-your-code-repository</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Tal, L. (n.d.). “Securing Source Code in Repositories is Essential: How To Get Started.” </a:t>
            </a:r>
            <a:r>
              <a:rPr lang="en-US" i="1" dirty="0" err="1">
                <a:latin typeface="Calibri" panose="020F0502020204030204" pitchFamily="34" charset="0"/>
                <a:ea typeface="Calibri" panose="020F0502020204030204" pitchFamily="34" charset="0"/>
                <a:cs typeface="Calibri" panose="020F0502020204030204" pitchFamily="34" charset="0"/>
              </a:rPr>
              <a:t>Snyk</a:t>
            </a:r>
            <a:r>
              <a:rPr lang="en-US" dirty="0">
                <a:latin typeface="Calibri" panose="020F0502020204030204" pitchFamily="34" charset="0"/>
                <a:ea typeface="Calibri" panose="020F0502020204030204" pitchFamily="34" charset="0"/>
                <a:cs typeface="Calibri" panose="020F0502020204030204" pitchFamily="34" charset="0"/>
              </a:rPr>
              <a:t>. Retrieved from </a:t>
            </a:r>
            <a:r>
              <a:rPr lang="en-US" dirty="0">
                <a:latin typeface="Calibri" panose="020F0502020204030204" pitchFamily="34" charset="0"/>
                <a:ea typeface="Calibri" panose="020F0502020204030204" pitchFamily="34" charset="0"/>
                <a:cs typeface="Calibri" panose="020F0502020204030204" pitchFamily="34" charset="0"/>
                <a:hlinkClick r:id="rId4"/>
              </a:rPr>
              <a:t>https://snyk.io/articles/securing-source-code-repositories/</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12913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802</Words>
  <Application>Microsoft Office PowerPoint</Application>
  <PresentationFormat>Widescreen</PresentationFormat>
  <Paragraphs>45</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Security in Shared Source Code Repositories</vt:lpstr>
      <vt:lpstr>The Need for Repository Security</vt:lpstr>
      <vt:lpstr>Choosing a Secure Repository</vt:lpstr>
      <vt:lpstr>Separate Secrets from Code</vt:lpstr>
      <vt:lpstr>Limit Repository Access</vt:lpstr>
      <vt:lpstr>Core Repository Security Best Practices</vt:lpstr>
      <vt:lpstr>Other Best Practices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preller</dc:creator>
  <cp:lastModifiedBy>daniel preller</cp:lastModifiedBy>
  <cp:revision>4</cp:revision>
  <dcterms:created xsi:type="dcterms:W3CDTF">2026-02-25T17:55:50Z</dcterms:created>
  <dcterms:modified xsi:type="dcterms:W3CDTF">2026-02-25T18:48:42Z</dcterms:modified>
</cp:coreProperties>
</file>